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1091672" cy="12801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4400" b="1">
                <a:solidFill>
                  <a:srgbClr val="0B1F3A"/>
                </a:solidFill>
                <a:latin typeface="Calibri"/>
              </a:rPr>
              <a:t>Caching in LLMs —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E86AB"/>
                </a:solidFill>
                <a:latin typeface="Calibri"/>
              </a:rPr>
              <a:t>Four 10-minute reads: StreamingLLM · Task 1 · GPTCache · Task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Calibri"/>
              </a:rPr>
              <a:t>Nissim Brami · Prof. Gil Einziger · Ben-Gurion University ·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148840"/>
            <a:ext cx="11091672" cy="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• Part 1 — </a:t>
            </a:r>
            <a:r>
              <a:rPr sz="2000">
                <a:solidFill>
                  <a:srgbClr val="222222"/>
                </a:solidFill>
                <a:latin typeface="Calibri"/>
              </a:rPr>
              <a:t>The StreamingLLM paper — the problem, the observation, the fix, the numbers.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• Part 2 — </a:t>
            </a:r>
            <a:r>
              <a:rPr sz="2000">
                <a:solidFill>
                  <a:srgbClr val="222222"/>
                </a:solidFill>
                <a:latin typeface="Calibri"/>
              </a:rPr>
              <a:t>What we built for Task 1 — 46-slide deck, notes, demo code.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• Part 3 — </a:t>
            </a:r>
            <a:r>
              <a:rPr sz="2000">
                <a:solidFill>
                  <a:srgbClr val="222222"/>
                </a:solidFill>
                <a:latin typeface="Calibri"/>
              </a:rPr>
              <a:t>GPTCache — origins, architecture, existing eviction policies.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• Part 4 — </a:t>
            </a:r>
            <a:r>
              <a:rPr sz="2000">
                <a:solidFill>
                  <a:srgbClr val="222222"/>
                </a:solidFill>
                <a:latin typeface="Calibri"/>
              </a:rPr>
              <a:t>What we built for Task 2 — GDSF plugin, 3600-run benchmark, paper.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• Bridge — </a:t>
            </a:r>
            <a:r>
              <a:rPr sz="2000">
                <a:solidFill>
                  <a:srgbClr val="222222"/>
                </a:solidFill>
                <a:latin typeface="Calibri"/>
              </a:rPr>
              <a:t>How the two tasks connect through cache-policy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2103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06040"/>
            <a:ext cx="11274552" cy="6400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2000" b="1">
                <a:solidFill>
                  <a:srgbClr val="E67E22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StreamingLLM — the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The problem: streaming LLMs break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Setting — </a:t>
            </a:r>
            <a:r>
              <a:rPr sz="1700">
                <a:solidFill>
                  <a:srgbClr val="222222"/>
                </a:solidFill>
                <a:latin typeface="Calibri"/>
              </a:rPr>
              <a:t>Chatbots, agents, long-running assistants — input length T grows unboundedly.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KV cache — </a:t>
            </a:r>
            <a:r>
              <a:rPr sz="1700">
                <a:solidFill>
                  <a:srgbClr val="222222"/>
                </a:solidFill>
                <a:latin typeface="Calibri"/>
              </a:rPr>
              <a:t>Every token stores a Key and Value vector. Memory grows O(T); attention grows O(T²).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Three broken baselines (Llama-2-13B, 20k tokens) — </a:t>
            </a:r>
            <a:r>
              <a:rPr sz="1700">
                <a:solidFill>
                  <a:srgbClr val="222222"/>
                </a:solidFill>
                <a:latin typeface="Calibri"/>
              </a:rPr>
              <a:t>Dense: 5641 PPL (OOM). Window (last 2048): 5158 PPL. Window+recompute: 5.43 PPL but O(TL²) slow.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So what? — </a:t>
            </a:r>
            <a:r>
              <a:rPr sz="1700">
                <a:solidFill>
                  <a:srgbClr val="222222"/>
                </a:solidFill>
                <a:latin typeface="Calibri"/>
              </a:rPr>
              <a:t>None of these is deployable at 4 million tokens. Something fundamental is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The observation: attention sinks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Attention maps show a shocking pattern — </a:t>
            </a:r>
            <a:r>
              <a:rPr sz="1700">
                <a:solidFill>
                  <a:srgbClr val="222222"/>
                </a:solidFill>
                <a:latin typeface="Calibri"/>
              </a:rPr>
              <a:t>Layers 3+ dump 30–60% of attention mass onto the first 4 tokens — no matter what those tokens are.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Why it happens — </a:t>
            </a:r>
            <a:r>
              <a:rPr sz="1700">
                <a:solidFill>
                  <a:srgbClr val="222222"/>
                </a:solidFill>
                <a:latin typeface="Calibri"/>
              </a:rPr>
              <a:t>Softmax must sum to 1. When no other token is relevant, the model needs a "no-op" bucket. Initial tokens are visible to everyone — they win.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Line-break clincher — </a:t>
            </a:r>
            <a:r>
              <a:rPr sz="1700">
                <a:solidFill>
                  <a:srgbClr val="222222"/>
                </a:solidFill>
                <a:latin typeface="Calibri"/>
              </a:rPr>
              <a:t>Replace token 0 with "\n": PPL 5.60 vs 5.40. Position matters far more than content.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Two-word fix — </a:t>
            </a:r>
            <a:r>
              <a:rPr sz="1700">
                <a:solidFill>
                  <a:srgbClr val="222222"/>
                </a:solidFill>
                <a:latin typeface="Calibri"/>
              </a:rPr>
              <a:t>Keep 4 initial sinks + last L rolling tokens. That is StreamingLLM.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Result: perplexity flat past 4M tokens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Correctness — </a:t>
            </a:r>
            <a:r>
              <a:rPr sz="1700">
                <a:solidFill>
                  <a:srgbClr val="222222"/>
                </a:solidFill>
                <a:latin typeface="Calibri"/>
              </a:rPr>
              <a:t>PG-19 book test: PPL stays flat from 4k → 4M tokens. Baselines diverge at ~2× pretraining length.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Speed — </a:t>
            </a:r>
            <a:r>
              <a:rPr sz="1700">
                <a:solidFill>
                  <a:srgbClr val="222222"/>
                </a:solidFill>
                <a:latin typeface="Calibri"/>
              </a:rPr>
              <a:t>Up to 22.2× faster than sliding-window + recompute (Llama-2-13B, A6000). Memory is O(L), not O(T).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Cost of the fix — </a:t>
            </a:r>
            <a:r>
              <a:rPr sz="1700">
                <a:solidFill>
                  <a:srgbClr val="222222"/>
                </a:solidFill>
                <a:latin typeface="Calibri"/>
              </a:rPr>
              <a:t>4 extra KV entries. That is the entire runtime cost.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Adopted in production — </a:t>
            </a:r>
            <a:r>
              <a:rPr sz="1700">
                <a:solidFill>
                  <a:srgbClr val="222222"/>
                </a:solidFill>
                <a:latin typeface="Calibri"/>
              </a:rPr>
              <a:t>HuggingFace SinkCache, TensorRT-LLM "streaming" mode, vLLM sliding-window variants.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2103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06040"/>
            <a:ext cx="11274552" cy="6400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2000" b="1">
                <a:solidFill>
                  <a:srgbClr val="E67E22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Task 1 — 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Task 1 assignment &amp; deliverables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The assignment — </a:t>
            </a:r>
            <a:r>
              <a:rPr sz="1700">
                <a:solidFill>
                  <a:srgbClr val="222222"/>
                </a:solidFill>
                <a:latin typeface="Calibri"/>
              </a:rPr>
              <a:t>Pick a caching-in-LLMs paper. Give a 30-min class lecture. Convince Prof. Einziger you understand it.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Why StreamingLLM — </a:t>
            </a:r>
            <a:r>
              <a:rPr sz="1700">
                <a:solidFill>
                  <a:srgbClr val="222222"/>
                </a:solidFill>
                <a:latin typeface="Calibri"/>
              </a:rPr>
              <a:t>Perfect fit: the KV cache is the classic capacity-limited cache; the paper is a policy paper.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What we produced — </a:t>
            </a:r>
            <a:r>
              <a:rPr sz="1700">
                <a:solidFill>
                  <a:srgbClr val="222222"/>
                </a:solidFill>
                <a:latin typeface="Calibri"/>
              </a:rPr>
              <a:t>46-slide 16:9 deck, 8000-word speaker notes, runnable PyTorch demo, unit tests, reference decks for continuity with prior BGU students.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How we frame it — </a:t>
            </a:r>
            <a:r>
              <a:rPr sz="1700">
                <a:solidFill>
                  <a:srgbClr val="222222"/>
                </a:solidFill>
                <a:latin typeface="Calibri"/>
              </a:rPr>
              <a:t>Cache-terminology-first: sinks = admission policy, rolling window = LRU-style eviction.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Deck structure (12 sections)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Basics — </a:t>
            </a:r>
            <a:r>
              <a:rPr sz="1700">
                <a:solidFill>
                  <a:srgbClr val="222222"/>
                </a:solidFill>
                <a:latin typeface="Calibri"/>
              </a:rPr>
              <a:t>Slides 1–10: what a KV cache is, why streams break it, course vocabulary (LRU/LFU/admission/eviction).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The paper — </a:t>
            </a:r>
            <a:r>
              <a:rPr sz="1700">
                <a:solidFill>
                  <a:srgbClr val="222222"/>
                </a:solidFill>
                <a:latin typeface="Calibri"/>
              </a:rPr>
              <a:t>Slides 11–25: attention-sink discovery, softmax argument, the 4+L policy, complexity analysis.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Results &amp; baselines — </a:t>
            </a:r>
            <a:r>
              <a:rPr sz="1700">
                <a:solidFill>
                  <a:srgbClr val="222222"/>
                </a:solidFill>
                <a:latin typeface="Calibri"/>
              </a:rPr>
              <a:t>Slides 26–35: PG-19 numbers, speedup, streaming QA.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Critique &amp; extensions — </a:t>
            </a:r>
            <a:r>
              <a:rPr sz="1700">
                <a:solidFill>
                  <a:srgbClr val="222222"/>
                </a:solidFill>
                <a:latin typeface="Calibri"/>
              </a:rPr>
              <a:t>Slides 36–46: limits (no memory of dropped tokens), what I'd change, connection to Task 2 (cost-aware eviction).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2103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06040"/>
            <a:ext cx="11274552" cy="6400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2000" b="1">
                <a:solidFill>
                  <a:srgbClr val="E67E22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GPTCache — the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What GPTCache 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The idea — </a:t>
            </a:r>
            <a:r>
              <a:rPr sz="1700">
                <a:solidFill>
                  <a:srgbClr val="222222"/>
                </a:solidFill>
                <a:latin typeface="Calibri"/>
              </a:rPr>
              <a:t>Semantic response cache in front of the LLM API. "What's the capital of France?" and "France's capital?" get the same cached answer.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Origins — </a:t>
            </a:r>
            <a:r>
              <a:rPr sz="1700">
                <a:solidFill>
                  <a:srgbClr val="222222"/>
                </a:solidFill>
                <a:latin typeface="Calibri"/>
              </a:rPr>
              <a:t>Zilliz (Milvus vector DB team), open-sourced mid-2023. Apache 2.0, ~12k GitHub stars, Python.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Why it matters — </a:t>
            </a:r>
            <a:r>
              <a:rPr sz="1700">
                <a:solidFill>
                  <a:srgbClr val="222222"/>
                </a:solidFill>
                <a:latin typeface="Calibri"/>
              </a:rPr>
              <a:t>LLM APIs cost real money. Caching hits by meaning, not by string, is the natural next step after HTTP caching.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Three pluggable stores — </a:t>
            </a:r>
            <a:r>
              <a:rPr sz="1700">
                <a:solidFill>
                  <a:srgbClr val="222222"/>
                </a:solidFill>
                <a:latin typeface="Calibri"/>
              </a:rPr>
              <a:t>CacheBase (SQL / SQLite / MySQL), VectorBase (FAISS / Milvus / Chroma), EvictionBase (which entries to drop when full).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The existing eviction policies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LRU (Least Recently Used) — </a:t>
            </a:r>
            <a:r>
              <a:rPr sz="1700">
                <a:solidFill>
                  <a:srgbClr val="222222"/>
                </a:solidFill>
                <a:latin typeface="Calibri"/>
              </a:rPr>
              <a:t>Kick out whatever hasn't been touched in longest. Ignores frequency, size, cost.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LFU (Least Frequently Used) — </a:t>
            </a:r>
            <a:r>
              <a:rPr sz="1700">
                <a:solidFill>
                  <a:srgbClr val="222222"/>
                </a:solidFill>
                <a:latin typeface="Calibri"/>
              </a:rPr>
              <a:t>Kick out whichever was used least often. Old popular entries stick; new entries starve.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FIFO / RR — </a:t>
            </a:r>
            <a:r>
              <a:rPr sz="1700">
                <a:solidFill>
                  <a:srgbClr val="222222"/>
                </a:solidFill>
                <a:latin typeface="Calibri"/>
              </a:rPr>
              <a:t>First-in-first-out / random. Simple, weak.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What none of them do — </a:t>
            </a:r>
            <a:r>
              <a:rPr sz="1700">
                <a:solidFill>
                  <a:srgbClr val="222222"/>
                </a:solidFill>
                <a:latin typeface="Calibri"/>
              </a:rPr>
              <a:t>Consider that a cache miss on a $0.03 GPT-4 call costs 30× more than a miss on a $0.001 embedding. → our opening.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2103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06040"/>
            <a:ext cx="11274552" cy="6400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2000" b="1">
                <a:solidFill>
                  <a:srgbClr val="E67E22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Task 2 — GDSF cost-aware 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What we contribute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The gap — </a:t>
            </a:r>
            <a:r>
              <a:rPr sz="1700">
                <a:solidFill>
                  <a:srgbClr val="222222"/>
                </a:solidFill>
                <a:latin typeface="Calibri"/>
              </a:rPr>
              <a:t>GPTCache assumes all entries cost the same to recompute. They don't.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The policy — </a:t>
            </a:r>
            <a:r>
              <a:rPr sz="1700">
                <a:solidFill>
                  <a:srgbClr val="222222"/>
                </a:solidFill>
                <a:latin typeface="Calibri"/>
              </a:rPr>
              <a:t>GDSF (Cao &amp; Irani 1997, Cherkasova 1998): Priority = L + freq(i)^α · cost(i)^β / size(i)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Adaptation — </a:t>
            </a:r>
            <a:r>
              <a:rPr sz="1700">
                <a:solidFill>
                  <a:srgbClr val="222222"/>
                </a:solidFill>
                <a:latin typeface="Calibri"/>
              </a:rPr>
              <a:t>cost(i) = the recorded $ per API call for that entry. L = clock counter to prevent starvation.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What we ship — </a:t>
            </a:r>
            <a:r>
              <a:rPr sz="1700">
                <a:solidFill>
                  <a:srgbClr val="222222"/>
                </a:solidFill>
                <a:latin typeface="Calibri"/>
              </a:rPr>
              <a:t>PR-ready branch fork of GPTCache: 1074-line plugin, 304 unit tests, benchmark harness, 3600-run study, 8-page ACM sigconf paper.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Results (3600 runs, paired-t + Bonferroni + BCa bootstrap)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Per-workload cost-weighted savings vs LRU baseline — </a:t>
            </a:r>
            <a:r>
              <a:rPr sz="1700">
                <a:solidFill>
                  <a:srgbClr val="222222"/>
                </a:solidFill>
                <a:latin typeface="Calibri"/>
              </a:rPr>
              <a:t>high-variance-cost: +25.7%; bursty: +32.3%; size-varying: +91.0%; adversarial-LRU: +18.8%.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Uniform-cost sanity check — </a:t>
            </a:r>
            <a:r>
              <a:rPr sz="1700">
                <a:solidFill>
                  <a:srgbClr val="222222"/>
                </a:solidFill>
                <a:latin typeface="Calibri"/>
              </a:rPr>
              <a:t>±0.005% vs baselines — policy correctly collapses to LFU-like behaviour when there's nothing to optimise.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Overhead — </a:t>
            </a:r>
            <a:r>
              <a:rPr sz="1700">
                <a:solidFill>
                  <a:srgbClr val="222222"/>
                </a:solidFill>
                <a:latin typeface="Calibri"/>
              </a:rPr>
              <a:t>-0.037% dollar-throughput vs LRU — statistically indistinguishable. Priority computation is O(1) per access.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Statistics — </a:t>
            </a:r>
            <a:r>
              <a:rPr sz="1700">
                <a:solidFill>
                  <a:srgbClr val="222222"/>
                </a:solidFill>
                <a:latin typeface="Calibri"/>
              </a:rPr>
              <a:t>All wins Bonferroni-adjusted p&lt;0.001 with 95% BCa CIs computed over 10000 bootstrap resamples (seed 20260721).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How the two tasks connect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Same setting — </a:t>
            </a:r>
            <a:r>
              <a:rPr sz="1700">
                <a:solidFill>
                  <a:srgbClr val="222222"/>
                </a:solidFill>
                <a:latin typeface="Calibri"/>
              </a:rPr>
              <a:t>Both tasks study a bounded cache serving an LLM workload. The question is only "what do you evict?"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Task 1 (KV cache) — </a:t>
            </a:r>
            <a:r>
              <a:rPr sz="1700">
                <a:solidFill>
                  <a:srgbClr val="222222"/>
                </a:solidFill>
                <a:latin typeface="Calibri"/>
              </a:rPr>
              <a:t>Position-based eviction — keep 4 sinks + rolling window. Domain: attention arithmetic.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Task 2 (response cache) — </a:t>
            </a:r>
            <a:r>
              <a:rPr sz="1700">
                <a:solidFill>
                  <a:srgbClr val="222222"/>
                </a:solidFill>
                <a:latin typeface="Calibri"/>
              </a:rPr>
              <a:t>Cost-based eviction — keep the entries that are most expensive to regenerate. Domain: semantic hits.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• Bridge — </a:t>
            </a:r>
            <a:r>
              <a:rPr sz="1700">
                <a:solidFill>
                  <a:srgbClr val="222222"/>
                </a:solidFill>
                <a:latin typeface="Calibri"/>
              </a:rPr>
              <a:t>Both replace naive FIFO/LRU with a smarter policy that respects the actual value of what's in the cache.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0"/>
            <a:ext cx="11091672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B1F3A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0233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2E86AB"/>
                </a:solidFill>
                <a:latin typeface="Calibri"/>
              </a:rPr>
              <a:t>Full artefacts: docs/PROJECT_OVERVIEW.{md,tex,pdf}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  <a:latin typeface="Calibri"/>
              </a:rPr>
              <a:t>nissimbrami@post.bgu.ac.il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