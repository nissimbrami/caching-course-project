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91695" cy="1371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64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SCALM: Semantic Caching for Automated Chat Services with LLMs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10896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i="1">
                <a:solidFill>
                  <a:srgbClr val="2E86AB"/>
                </a:solidFill>
              </a:defRPr>
            </a:pPr>
            <a:r>
              <a:t>Wang, Feng, Cheng, Wang · arXiv:2406.00025 · June 2024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Presented by Nissim Brami</a:t>
            </a:r>
          </a:p>
          <a:p>
            <a:pPr>
              <a:defRPr sz="1400">
                <a:solidFill>
                  <a:srgbClr val="F4F6F8"/>
                </a:solidFill>
              </a:defRPr>
            </a:pPr>
            <a:r>
              <a:t>Caching in LLMs · Ben-Gurion University of the Negev · Paper slot #8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0B1F3A"/>
                </a:solidFill>
              </a:defRPr>
            </a:pPr>
            <a:r>
              <a:t>•  The problem: exact-match caches leave most LLM value on the table</a:t>
            </a:r>
          </a:p>
          <a:p>
            <a:pPr>
              <a:spcAft>
                <a:spcPts val="600"/>
              </a:spcAft>
              <a:defRPr sz="2000">
                <a:solidFill>
                  <a:srgbClr val="0B1F3A"/>
                </a:solidFill>
              </a:defRPr>
            </a:pPr>
            <a:r>
              <a:t>•  SCALM's core idea: semantic clusters, not exact keys</a:t>
            </a:r>
          </a:p>
          <a:p>
            <a:pPr>
              <a:spcAft>
                <a:spcPts val="600"/>
              </a:spcAft>
              <a:defRPr sz="2000">
                <a:solidFill>
                  <a:srgbClr val="0B1F3A"/>
                </a:solidFill>
              </a:defRPr>
            </a:pPr>
            <a:r>
              <a:t>•  How SCALM builds and updates the cluster index</a:t>
            </a:r>
          </a:p>
          <a:p>
            <a:pPr>
              <a:spcAft>
                <a:spcPts val="600"/>
              </a:spcAft>
              <a:defRPr sz="2000">
                <a:solidFill>
                  <a:srgbClr val="0B1F3A"/>
                </a:solidFill>
              </a:defRPr>
            </a:pPr>
            <a:r>
              <a:t>•  Eviction, admission, and the drift-aware update loop</a:t>
            </a:r>
          </a:p>
          <a:p>
            <a:pPr>
              <a:spcAft>
                <a:spcPts val="600"/>
              </a:spcAft>
              <a:defRPr sz="2000">
                <a:solidFill>
                  <a:srgbClr val="0B1F3A"/>
                </a:solidFill>
              </a:defRPr>
            </a:pPr>
            <a:r>
              <a:t>•  Experimental results — hit rate, latency, cost savings</a:t>
            </a:r>
          </a:p>
          <a:p>
            <a:pPr>
              <a:spcAft>
                <a:spcPts val="600"/>
              </a:spcAft>
              <a:defRPr sz="2000">
                <a:solidFill>
                  <a:srgbClr val="0B1F3A"/>
                </a:solidFill>
              </a:defRPr>
            </a:pPr>
            <a:r>
              <a:t>•  Where SCALM sits in our course vocabulary</a:t>
            </a:r>
          </a:p>
          <a:p>
            <a:pPr>
              <a:spcAft>
                <a:spcPts val="600"/>
              </a:spcAft>
              <a:defRPr sz="2000">
                <a:solidFill>
                  <a:srgbClr val="0B1F3A"/>
                </a:solidFill>
              </a:defRPr>
            </a:pPr>
            <a:r>
              <a:t>•  Strengths, limitations, and what I would try to improve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600" b="1">
                <a:solidFill>
                  <a:srgbClr val="FFFFFF"/>
                </a:solidFill>
              </a:defRPr>
            </a:pPr>
            <a:r>
              <a:t>§1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51760" y="256032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Why exact-match caching underperforms on chat workloads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0B1F3A"/>
                </a:solidFill>
              </a:defRPr>
            </a:pPr>
            <a:r>
              <a:t>•  Users rephrase the same question in many ways</a:t>
            </a:r>
          </a:p>
          <a:p>
            <a:pPr>
              <a:spcAft>
                <a:spcPts val="600"/>
              </a:spcAft>
              <a:defRPr sz="2000">
                <a:solidFill>
                  <a:srgbClr val="0B1F3A"/>
                </a:solidFill>
              </a:defRPr>
            </a:pPr>
            <a:r>
              <a:t>•    Same intent · different tokens · different hash</a:t>
            </a:r>
          </a:p>
          <a:p>
            <a:pPr>
              <a:spcAft>
                <a:spcPts val="600"/>
              </a:spcAft>
              <a:defRPr sz="2000">
                <a:solidFill>
                  <a:srgbClr val="0B1F3A"/>
                </a:solidFill>
              </a:defRPr>
            </a:pPr>
            <a:r>
              <a:t>•  Exact-match / LRU on prompt hash → most re-queries look like misses</a:t>
            </a:r>
          </a:p>
          <a:p>
            <a:pPr>
              <a:spcAft>
                <a:spcPts val="600"/>
              </a:spcAft>
              <a:defRPr sz="2000">
                <a:solidFill>
                  <a:srgbClr val="0B1F3A"/>
                </a:solidFill>
              </a:defRPr>
            </a:pPr>
            <a:r>
              <a:t>•    Cache utilization stays low even with abundant capacity</a:t>
            </a:r>
          </a:p>
          <a:p>
            <a:pPr>
              <a:spcAft>
                <a:spcPts val="600"/>
              </a:spcAft>
              <a:defRPr sz="2000">
                <a:solidFill>
                  <a:srgbClr val="0B1F3A"/>
                </a:solidFill>
              </a:defRPr>
            </a:pPr>
            <a:r>
              <a:t>•  Consequence: chat services pay full LLM cost per rephrase</a:t>
            </a:r>
          </a:p>
          <a:p>
            <a:pPr>
              <a:spcAft>
                <a:spcPts val="600"/>
              </a:spcAft>
              <a:defRPr sz="2000">
                <a:solidFill>
                  <a:srgbClr val="0B1F3A"/>
                </a:solidFill>
              </a:defRPr>
            </a:pPr>
            <a:r>
              <a:t>•    Latency and dollar cost scale with the paraphrase rate</a:t>
            </a:r>
          </a:p>
          <a:p>
            <a:pPr>
              <a:spcAft>
                <a:spcPts val="600"/>
              </a:spcAft>
              <a:defRPr sz="2000">
                <a:solidFill>
                  <a:srgbClr val="0B1F3A"/>
                </a:solidFill>
              </a:defRPr>
            </a:pPr>
            <a:r>
              <a:t>•  SCALM's claim: matching on meaning, not tokens, unlocks 2–3× more hits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555555"/>
                </a:solidFill>
              </a:defRPr>
            </a:pPr>
            <a:r>
              <a:t>§1  Motivation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Semantic caching in one slide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51560"/>
            <a:ext cx="5486400" cy="539496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5029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86AB"/>
                </a:solidFill>
              </a:defRPr>
            </a:pPr>
            <a:r>
              <a:t>Traditional cache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74519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0B1F3A"/>
                </a:solidFill>
              </a:defRPr>
            </a:pPr>
            <a:r>
              <a:t>•  Key = hash(prompt)</a:t>
            </a:r>
          </a:p>
          <a:p>
            <a:pPr>
              <a:spcAft>
                <a:spcPts val="500"/>
              </a:spcAft>
              <a:defRPr sz="1600">
                <a:solidFill>
                  <a:srgbClr val="0B1F3A"/>
                </a:solidFill>
              </a:defRPr>
            </a:pPr>
            <a:r>
              <a:t>•  Hit iff bit-exact match</a:t>
            </a:r>
          </a:p>
          <a:p>
            <a:pPr>
              <a:spcAft>
                <a:spcPts val="500"/>
              </a:spcAft>
              <a:defRPr sz="1600">
                <a:solidFill>
                  <a:srgbClr val="0B1F3A"/>
                </a:solidFill>
              </a:defRPr>
            </a:pPr>
            <a:r>
              <a:t>•  O(1) lookup</a:t>
            </a:r>
          </a:p>
          <a:p>
            <a:pPr>
              <a:spcAft>
                <a:spcPts val="500"/>
              </a:spcAft>
              <a:defRPr sz="1600">
                <a:solidFill>
                  <a:srgbClr val="0B1F3A"/>
                </a:solidFill>
              </a:defRPr>
            </a:pPr>
            <a:r>
              <a:t>•  Misses on any paraphrase</a:t>
            </a:r>
          </a:p>
          <a:p>
            <a:pPr>
              <a:spcAft>
                <a:spcPts val="500"/>
              </a:spcAft>
              <a:defRPr sz="1600">
                <a:solidFill>
                  <a:srgbClr val="0B1F3A"/>
                </a:solidFill>
              </a:defRPr>
            </a:pPr>
            <a:r>
              <a:t>•  No admission control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051560"/>
            <a:ext cx="5486400" cy="539496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234440"/>
            <a:ext cx="5029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86AB"/>
                </a:solidFill>
              </a:defRPr>
            </a:pPr>
            <a:r>
              <a:t>Semantic cache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874519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0B1F3A"/>
                </a:solidFill>
              </a:defRPr>
            </a:pPr>
            <a:r>
              <a:t>•  Key = embedding(prompt)</a:t>
            </a:r>
          </a:p>
          <a:p>
            <a:pPr>
              <a:spcAft>
                <a:spcPts val="500"/>
              </a:spcAft>
              <a:defRPr sz="1600">
                <a:solidFill>
                  <a:srgbClr val="0B1F3A"/>
                </a:solidFill>
              </a:defRPr>
            </a:pPr>
            <a:r>
              <a:t>•  Hit iff cos-sim &gt; threshold</a:t>
            </a:r>
          </a:p>
          <a:p>
            <a:pPr>
              <a:spcAft>
                <a:spcPts val="500"/>
              </a:spcAft>
              <a:defRPr sz="1600">
                <a:solidFill>
                  <a:srgbClr val="0B1F3A"/>
                </a:solidFill>
              </a:defRPr>
            </a:pPr>
            <a:r>
              <a:t>•  ANN lookup (FAISS / Milvus)</a:t>
            </a:r>
          </a:p>
          <a:p>
            <a:pPr>
              <a:spcAft>
                <a:spcPts val="500"/>
              </a:spcAft>
              <a:defRPr sz="1600">
                <a:solidFill>
                  <a:srgbClr val="0B1F3A"/>
                </a:solidFill>
              </a:defRPr>
            </a:pPr>
            <a:r>
              <a:t>•  Catches paraphrases</a:t>
            </a:r>
          </a:p>
          <a:p>
            <a:pPr>
              <a:spcAft>
                <a:spcPts val="500"/>
              </a:spcAft>
              <a:defRPr sz="1600">
                <a:solidFill>
                  <a:srgbClr val="0B1F3A"/>
                </a:solidFill>
              </a:defRPr>
            </a:pPr>
            <a:r>
              <a:t>•  But: near-duplicate blowup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600" b="1">
                <a:solidFill>
                  <a:srgbClr val="FFFFFF"/>
                </a:solidFill>
              </a:defRPr>
            </a:pPr>
            <a:r>
              <a:t>§2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51760" y="256032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SCALM: The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SCALM's core idea: cluster, don't just embed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0B1F3A"/>
                </a:solidFill>
              </a:defRPr>
            </a:pPr>
            <a:r>
              <a:t>•  Vanilla semantic caches store every query's embedding individually</a:t>
            </a:r>
          </a:p>
          <a:p>
            <a:pPr>
              <a:spcAft>
                <a:spcPts val="600"/>
              </a:spcAft>
              <a:defRPr sz="2000">
                <a:solidFill>
                  <a:srgbClr val="0B1F3A"/>
                </a:solidFill>
              </a:defRPr>
            </a:pPr>
            <a:r>
              <a:t>•    Wasteful: many near-duplicates fight for the same cache slot</a:t>
            </a:r>
          </a:p>
          <a:p>
            <a:pPr>
              <a:spcAft>
                <a:spcPts val="600"/>
              </a:spcAft>
              <a:defRPr sz="2000">
                <a:solidFill>
                  <a:srgbClr val="0B1F3A"/>
                </a:solidFill>
              </a:defRPr>
            </a:pPr>
            <a:r>
              <a:t>•  SCALM groups queries into semantic clusters</a:t>
            </a:r>
          </a:p>
          <a:p>
            <a:pPr>
              <a:spcAft>
                <a:spcPts val="600"/>
              </a:spcAft>
              <a:defRPr sz="2000">
                <a:solidFill>
                  <a:srgbClr val="0B1F3A"/>
                </a:solidFill>
              </a:defRPr>
            </a:pPr>
            <a:r>
              <a:t>•    Each cluster keeps one representative embedding + one canonical response</a:t>
            </a:r>
          </a:p>
          <a:p>
            <a:pPr>
              <a:spcAft>
                <a:spcPts val="600"/>
              </a:spcAft>
              <a:defRPr sz="2000">
                <a:solidFill>
                  <a:srgbClr val="0B1F3A"/>
                </a:solidFill>
              </a:defRPr>
            </a:pPr>
            <a:r>
              <a:t>•    New query maps to nearest cluster; hit if distance below threshold</a:t>
            </a:r>
          </a:p>
          <a:p>
            <a:pPr>
              <a:spcAft>
                <a:spcPts val="600"/>
              </a:spcAft>
              <a:defRPr sz="2000">
                <a:solidFill>
                  <a:srgbClr val="0B1F3A"/>
                </a:solidFill>
              </a:defRPr>
            </a:pPr>
            <a:r>
              <a:t>•  Effect: capacity is spent on distinct topics, not on paraphrase copies</a:t>
            </a:r>
          </a:p>
          <a:p>
            <a:pPr>
              <a:spcAft>
                <a:spcPts val="600"/>
              </a:spcAft>
              <a:defRPr sz="2000">
                <a:solidFill>
                  <a:srgbClr val="0B1F3A"/>
                </a:solidFill>
              </a:defRPr>
            </a:pPr>
            <a:r>
              <a:t>•  Result: higher effective hit ratio at the same memory budget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555555"/>
                </a:solidFill>
              </a:defRPr>
            </a:pPr>
            <a:r>
              <a:t>§2  Design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Building the cluster 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0B1F3A"/>
                </a:solidFill>
              </a:defRPr>
            </a:pPr>
            <a:r>
              <a:t>•  Embedding model produces fixed-size vectors for each incoming prompt</a:t>
            </a:r>
          </a:p>
          <a:p>
            <a:pPr>
              <a:spcAft>
                <a:spcPts val="600"/>
              </a:spcAft>
              <a:defRPr sz="2000">
                <a:solidFill>
                  <a:srgbClr val="0B1F3A"/>
                </a:solidFill>
              </a:defRPr>
            </a:pPr>
            <a:r>
              <a:t>•  Online clustering (streaming k-means-style)</a:t>
            </a:r>
          </a:p>
          <a:p>
            <a:pPr>
              <a:spcAft>
                <a:spcPts val="600"/>
              </a:spcAft>
              <a:defRPr sz="2000">
                <a:solidFill>
                  <a:srgbClr val="0B1F3A"/>
                </a:solidFill>
              </a:defRPr>
            </a:pPr>
            <a:r>
              <a:t>•    If nearest cluster centroid within radius r → assign, update centroid</a:t>
            </a:r>
          </a:p>
          <a:p>
            <a:pPr>
              <a:spcAft>
                <a:spcPts val="600"/>
              </a:spcAft>
              <a:defRPr sz="2000">
                <a:solidFill>
                  <a:srgbClr val="0B1F3A"/>
                </a:solidFill>
              </a:defRPr>
            </a:pPr>
            <a:r>
              <a:t>•    Otherwise → open a new cluster</a:t>
            </a:r>
          </a:p>
          <a:p>
            <a:pPr>
              <a:spcAft>
                <a:spcPts val="600"/>
              </a:spcAft>
              <a:defRPr sz="2000">
                <a:solidFill>
                  <a:srgbClr val="0B1F3A"/>
                </a:solidFill>
              </a:defRPr>
            </a:pPr>
            <a:r>
              <a:t>•  Each cluster stores:  centroid  |  member count  |  canonical response  |  cost estimate</a:t>
            </a:r>
          </a:p>
          <a:p>
            <a:pPr>
              <a:spcAft>
                <a:spcPts val="600"/>
              </a:spcAft>
              <a:defRPr sz="2000">
                <a:solidFill>
                  <a:srgbClr val="0B1F3A"/>
                </a:solidFill>
              </a:defRPr>
            </a:pPr>
            <a:r>
              <a:t>•  Update rule for centroid: exponential moving average with decay factor λ</a:t>
            </a:r>
          </a:p>
          <a:p>
            <a:pPr>
              <a:spcAft>
                <a:spcPts val="600"/>
              </a:spcAft>
              <a:defRPr sz="2000">
                <a:solidFill>
                  <a:srgbClr val="0B1F3A"/>
                </a:solidFill>
              </a:defRPr>
            </a:pPr>
            <a:r>
              <a:t>•    Balances stability (old members) vs plasticity (new members)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555555"/>
                </a:solidFill>
              </a:defRPr>
            </a:pPr>
            <a:r>
              <a:t>§2  Design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Admission and eviction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51560"/>
            <a:ext cx="5486400" cy="539496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5029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86AB"/>
                </a:solidFill>
              </a:defRPr>
            </a:pPr>
            <a:r>
              <a:t>Admission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74519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0B1F3A"/>
                </a:solidFill>
              </a:defRPr>
            </a:pPr>
            <a:r>
              <a:t>•  New cluster only when isolation exceeds threshold</a:t>
            </a:r>
          </a:p>
          <a:p>
            <a:pPr>
              <a:spcAft>
                <a:spcPts val="500"/>
              </a:spcAft>
              <a:defRPr sz="1600">
                <a:solidFill>
                  <a:srgbClr val="0B1F3A"/>
                </a:solidFill>
              </a:defRPr>
            </a:pPr>
            <a:r>
              <a:t>•  Avoids polluting cache with singletons</a:t>
            </a:r>
          </a:p>
          <a:p>
            <a:pPr>
              <a:spcAft>
                <a:spcPts val="500"/>
              </a:spcAft>
              <a:defRPr sz="1600">
                <a:solidFill>
                  <a:srgbClr val="0B1F3A"/>
                </a:solidFill>
              </a:defRPr>
            </a:pPr>
            <a:r>
              <a:t>•  Cheap prompts require higher confidence to enter</a:t>
            </a:r>
          </a:p>
          <a:p>
            <a:pPr>
              <a:spcAft>
                <a:spcPts val="500"/>
              </a:spcAft>
              <a:defRPr sz="1600">
                <a:solidFill>
                  <a:srgbClr val="0B1F3A"/>
                </a:solidFill>
              </a:defRPr>
            </a:pPr>
            <a:r>
              <a:t>•  Amortizes clustering cost across future hits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051560"/>
            <a:ext cx="5486400" cy="539496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234440"/>
            <a:ext cx="5029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86AB"/>
                </a:solidFill>
              </a:defRPr>
            </a:pPr>
            <a:r>
              <a:t>Eviction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874519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0B1F3A"/>
                </a:solidFill>
              </a:defRPr>
            </a:pPr>
            <a:r>
              <a:t>•  Priority = (frequency × cost) / age</a:t>
            </a:r>
          </a:p>
          <a:p>
            <a:pPr>
              <a:spcAft>
                <a:spcPts val="500"/>
              </a:spcAft>
              <a:defRPr sz="1600">
                <a:solidFill>
                  <a:srgbClr val="0B1F3A"/>
                </a:solidFill>
              </a:defRPr>
            </a:pPr>
            <a:r>
              <a:t>•  Low-frequency, low-cost clusters die first</a:t>
            </a:r>
          </a:p>
          <a:p>
            <a:pPr>
              <a:spcAft>
                <a:spcPts val="500"/>
              </a:spcAft>
              <a:defRPr sz="1600">
                <a:solidFill>
                  <a:srgbClr val="0B1F3A"/>
                </a:solidFill>
              </a:defRPr>
            </a:pPr>
            <a:r>
              <a:t>•  Drift-triggered re-clustering keeps meaning fresh</a:t>
            </a:r>
          </a:p>
          <a:p>
            <a:pPr>
              <a:spcAft>
                <a:spcPts val="500"/>
              </a:spcAft>
              <a:defRPr sz="1600">
                <a:solidFill>
                  <a:srgbClr val="0B1F3A"/>
                </a:solidFill>
              </a:defRPr>
            </a:pPr>
            <a:r>
              <a:t>•  Bounded memory; O(log n) per eviction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600" b="1">
                <a:solidFill>
                  <a:srgbClr val="FFFFFF"/>
                </a:solidFill>
              </a:defRPr>
            </a:pPr>
            <a:r>
              <a:t>§3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51760" y="256032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Results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Headline results (from the paper)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0B1F3A"/>
                </a:solidFill>
              </a:defRPr>
            </a:pPr>
            <a:r>
              <a:t>•  Workload: real chat traces from an enterprise assistant</a:t>
            </a:r>
          </a:p>
          <a:p>
            <a:pPr>
              <a:spcAft>
                <a:spcPts val="600"/>
              </a:spcAft>
              <a:defRPr sz="2000">
                <a:solidFill>
                  <a:srgbClr val="0B1F3A"/>
                </a:solidFill>
              </a:defRPr>
            </a:pPr>
            <a:r>
              <a:t>•  Cache size fixed at 10 000 entries; compared vs exact-match and vanilla semantic cache</a:t>
            </a:r>
          </a:p>
          <a:p>
            <a:pPr>
              <a:spcAft>
                <a:spcPts val="600"/>
              </a:spcAft>
              <a:defRPr sz="2000">
                <a:solidFill>
                  <a:srgbClr val="0B1F3A"/>
                </a:solidFill>
              </a:defRPr>
            </a:pPr>
            <a:r>
              <a:t>•  Hit rate:  exact-match ≈ 12%   vanilla-semantic ≈ 28%   SCALM ≈ 40–45%</a:t>
            </a:r>
          </a:p>
          <a:p>
            <a:pPr>
              <a:spcAft>
                <a:spcPts val="600"/>
              </a:spcAft>
              <a:defRPr sz="2000">
                <a:solidFill>
                  <a:srgbClr val="0B1F3A"/>
                </a:solidFill>
              </a:defRPr>
            </a:pPr>
            <a:r>
              <a:t>•  Latency:  ~60% reduction in mean p95 vs no-cache baseline</a:t>
            </a:r>
          </a:p>
          <a:p>
            <a:pPr>
              <a:spcAft>
                <a:spcPts val="600"/>
              </a:spcAft>
              <a:defRPr sz="2000">
                <a:solidFill>
                  <a:srgbClr val="0B1F3A"/>
                </a:solidFill>
              </a:defRPr>
            </a:pPr>
            <a:r>
              <a:t>•  Cost:  ~55% reduction in LLM API spend at steady state</a:t>
            </a:r>
          </a:p>
          <a:p>
            <a:pPr>
              <a:spcAft>
                <a:spcPts val="600"/>
              </a:spcAft>
              <a:defRPr sz="2000">
                <a:solidFill>
                  <a:srgbClr val="0B1F3A"/>
                </a:solidFill>
              </a:defRPr>
            </a:pPr>
            <a:r>
              <a:t>•  Ablation confirms clustering is the dominant contributor (not just embedding)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555555"/>
                </a:solidFill>
              </a:defRPr>
            </a:pPr>
            <a:r>
              <a:t>§3  Results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Sensitivity and robustness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0B1F3A"/>
                </a:solidFill>
              </a:defRPr>
            </a:pPr>
            <a:r>
              <a:t>•  Similarity threshold τ is the main knob</a:t>
            </a:r>
          </a:p>
          <a:p>
            <a:pPr>
              <a:spcAft>
                <a:spcPts val="600"/>
              </a:spcAft>
              <a:defRPr sz="2000">
                <a:solidFill>
                  <a:srgbClr val="0B1F3A"/>
                </a:solidFill>
              </a:defRPr>
            </a:pPr>
            <a:r>
              <a:t>•    Too low → false hits, incorrect answers</a:t>
            </a:r>
          </a:p>
          <a:p>
            <a:pPr>
              <a:spcAft>
                <a:spcPts val="600"/>
              </a:spcAft>
              <a:defRPr sz="2000">
                <a:solidFill>
                  <a:srgbClr val="0B1F3A"/>
                </a:solidFill>
              </a:defRPr>
            </a:pPr>
            <a:r>
              <a:t>•    Too high → collapses to exact-match</a:t>
            </a:r>
          </a:p>
          <a:p>
            <a:pPr>
              <a:spcAft>
                <a:spcPts val="600"/>
              </a:spcAft>
              <a:defRPr sz="2000">
                <a:solidFill>
                  <a:srgbClr val="0B1F3A"/>
                </a:solidFill>
              </a:defRPr>
            </a:pPr>
            <a:r>
              <a:t>•  Sweet spot 0.85–0.92 across the reported datasets</a:t>
            </a:r>
          </a:p>
          <a:p>
            <a:pPr>
              <a:spcAft>
                <a:spcPts val="600"/>
              </a:spcAft>
              <a:defRPr sz="2000">
                <a:solidFill>
                  <a:srgbClr val="0B1F3A"/>
                </a:solidFill>
              </a:defRPr>
            </a:pPr>
            <a:r>
              <a:t>•  Response quality maintained at τ ≥ 0.88 (measured via LLM-as-judge scoring)</a:t>
            </a:r>
          </a:p>
          <a:p>
            <a:pPr>
              <a:spcAft>
                <a:spcPts val="600"/>
              </a:spcAft>
              <a:defRPr sz="2000">
                <a:solidFill>
                  <a:srgbClr val="0B1F3A"/>
                </a:solidFill>
              </a:defRPr>
            </a:pPr>
            <a:r>
              <a:t>•  Drift detection triggers re-clustering when centroid variance spikes</a:t>
            </a:r>
          </a:p>
          <a:p>
            <a:pPr>
              <a:spcAft>
                <a:spcPts val="600"/>
              </a:spcAft>
              <a:defRPr sz="2000">
                <a:solidFill>
                  <a:srgbClr val="0B1F3A"/>
                </a:solidFill>
              </a:defRPr>
            </a:pPr>
            <a:r>
              <a:t>•    Prevents stale clusters after topic shifts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555555"/>
                </a:solidFill>
              </a:defRPr>
            </a:pPr>
            <a:r>
              <a:t>§3  Results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600" b="1">
                <a:solidFill>
                  <a:srgbClr val="FFFFFF"/>
                </a:solidFill>
              </a:defRPr>
            </a:pPr>
            <a:r>
              <a:t>§4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51760" y="256032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Positioning &amp; Critique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Where SCALM sits in our course terminology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0B1F3A"/>
                </a:solidFill>
              </a:defRPr>
            </a:pPr>
            <a:r>
              <a:t>•  What is being cached?  →  LLM responses keyed by semantic cluster (not KV tensors)</a:t>
            </a:r>
          </a:p>
          <a:p>
            <a:pPr>
              <a:spcAft>
                <a:spcPts val="600"/>
              </a:spcAft>
              <a:defRPr sz="2000">
                <a:solidFill>
                  <a:srgbClr val="0B1F3A"/>
                </a:solidFill>
              </a:defRPr>
            </a:pPr>
            <a:r>
              <a:t>•  Why does it work?      →  Chat prompts exhibit strong intent locality</a:t>
            </a:r>
          </a:p>
          <a:p>
            <a:pPr>
              <a:spcAft>
                <a:spcPts val="600"/>
              </a:spcAft>
              <a:defRPr sz="2000">
                <a:solidFill>
                  <a:srgbClr val="0B1F3A"/>
                </a:solidFill>
              </a:defRPr>
            </a:pPr>
            <a:r>
              <a:t>•                            Semantic space is far denser than lexical space</a:t>
            </a:r>
          </a:p>
          <a:p>
            <a:pPr>
              <a:spcAft>
                <a:spcPts val="600"/>
              </a:spcAft>
              <a:defRPr sz="2000">
                <a:solidFill>
                  <a:srgbClr val="0B1F3A"/>
                </a:solidFill>
              </a:defRPr>
            </a:pPr>
            <a:r>
              <a:t>•  Eviction family:       →  Frequency-cost weighted priority — a GDSF cousin</a:t>
            </a:r>
          </a:p>
          <a:p>
            <a:pPr>
              <a:spcAft>
                <a:spcPts val="600"/>
              </a:spcAft>
              <a:defRPr sz="2000">
                <a:solidFill>
                  <a:srgbClr val="0B1F3A"/>
                </a:solidFill>
              </a:defRPr>
            </a:pPr>
            <a:r>
              <a:t>•  Admission control:     →  Isolation-based, similar to W-TinyLFU's admission filter</a:t>
            </a:r>
          </a:p>
          <a:p>
            <a:pPr>
              <a:spcAft>
                <a:spcPts val="600"/>
              </a:spcAft>
              <a:defRPr sz="2000">
                <a:solidFill>
                  <a:srgbClr val="0B1F3A"/>
                </a:solidFill>
              </a:defRPr>
            </a:pPr>
            <a:r>
              <a:t>•  Compared to GPTCache:  →  SCALM adds an online clustering layer on top</a:t>
            </a:r>
          </a:p>
          <a:p>
            <a:pPr>
              <a:spcAft>
                <a:spcPts val="600"/>
              </a:spcAft>
              <a:defRPr sz="2000">
                <a:solidFill>
                  <a:srgbClr val="0B1F3A"/>
                </a:solidFill>
              </a:defRPr>
            </a:pPr>
            <a:r>
              <a:t>•                            GPTCache stores every prompt embedding individually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555555"/>
                </a:solidFill>
              </a:defRPr>
            </a:pPr>
            <a:r>
              <a:t>§4  Positioning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Strengths and limitations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51560"/>
            <a:ext cx="5486400" cy="539496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5029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86AB"/>
                </a:solidFill>
              </a:defRPr>
            </a:pPr>
            <a:r>
              <a:t>Strengths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74519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0B1F3A"/>
                </a:solidFill>
              </a:defRPr>
            </a:pPr>
            <a:r>
              <a:t>•  Big hit-rate lift on real chat workloads</a:t>
            </a:r>
          </a:p>
          <a:p>
            <a:pPr>
              <a:spcAft>
                <a:spcPts val="500"/>
              </a:spcAft>
              <a:defRPr sz="1600">
                <a:solidFill>
                  <a:srgbClr val="0B1F3A"/>
                </a:solidFill>
              </a:defRPr>
            </a:pPr>
            <a:r>
              <a:t>•  Bounded memory via clustering</a:t>
            </a:r>
          </a:p>
          <a:p>
            <a:pPr>
              <a:spcAft>
                <a:spcPts val="500"/>
              </a:spcAft>
              <a:defRPr sz="1600">
                <a:solidFill>
                  <a:srgbClr val="0B1F3A"/>
                </a:solidFill>
              </a:defRPr>
            </a:pPr>
            <a:r>
              <a:t>•  Naturally handles paraphrases and typos</a:t>
            </a:r>
          </a:p>
          <a:p>
            <a:pPr>
              <a:spcAft>
                <a:spcPts val="500"/>
              </a:spcAft>
              <a:defRPr sz="1600">
                <a:solidFill>
                  <a:srgbClr val="0B1F3A"/>
                </a:solidFill>
              </a:defRPr>
            </a:pPr>
            <a:r>
              <a:t>•  Drift-aware — degrades gracefully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051560"/>
            <a:ext cx="5486400" cy="539496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234440"/>
            <a:ext cx="5029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86AB"/>
                </a:solidFill>
              </a:defRPr>
            </a:pPr>
            <a:r>
              <a:t>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874519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0B1F3A"/>
                </a:solidFill>
              </a:defRPr>
            </a:pPr>
            <a:r>
              <a:t>•  Sensitive to τ and embedding quality</a:t>
            </a:r>
          </a:p>
          <a:p>
            <a:pPr>
              <a:spcAft>
                <a:spcPts val="500"/>
              </a:spcAft>
              <a:defRPr sz="1600">
                <a:solidFill>
                  <a:srgbClr val="0B1F3A"/>
                </a:solidFill>
              </a:defRPr>
            </a:pPr>
            <a:r>
              <a:t>•  False-hit risk on ambiguous queries</a:t>
            </a:r>
          </a:p>
          <a:p>
            <a:pPr>
              <a:spcAft>
                <a:spcPts val="500"/>
              </a:spcAft>
              <a:defRPr sz="1600">
                <a:solidFill>
                  <a:srgbClr val="0B1F3A"/>
                </a:solidFill>
              </a:defRPr>
            </a:pPr>
            <a:r>
              <a:t>•  Cluster centroid drift needs cold restarts</a:t>
            </a:r>
          </a:p>
          <a:p>
            <a:pPr>
              <a:spcAft>
                <a:spcPts val="500"/>
              </a:spcAft>
              <a:defRPr sz="1600">
                <a:solidFill>
                  <a:srgbClr val="0B1F3A"/>
                </a:solidFill>
              </a:defRPr>
            </a:pPr>
            <a:r>
              <a:t>•  No cost-aware admission (all clusters equal)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Can we improve SCALM? Ideas that link to my final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0B1F3A"/>
                </a:solidFill>
              </a:defRPr>
            </a:pPr>
            <a:r>
              <a:t>•  Replace SCALM's frequency×cost/age with a proper GDSF priority (my project)</a:t>
            </a:r>
          </a:p>
          <a:p>
            <a:pPr>
              <a:spcAft>
                <a:spcPts val="600"/>
              </a:spcAft>
              <a:defRPr sz="2000">
                <a:solidFill>
                  <a:srgbClr val="0B1F3A"/>
                </a:solidFill>
              </a:defRPr>
            </a:pPr>
            <a:r>
              <a:t>•    Priority(c) = Clock + freq(c)^α · cost(c)^β / size(c)</a:t>
            </a:r>
          </a:p>
          <a:p>
            <a:pPr>
              <a:spcAft>
                <a:spcPts val="600"/>
              </a:spcAft>
              <a:defRPr sz="2000">
                <a:solidFill>
                  <a:srgbClr val="0B1F3A"/>
                </a:solidFill>
              </a:defRPr>
            </a:pPr>
            <a:r>
              <a:t>•  Add a cost-weighted admission filter — cheap queries admitted only above higher τ</a:t>
            </a:r>
          </a:p>
          <a:p>
            <a:pPr>
              <a:spcAft>
                <a:spcPts val="600"/>
              </a:spcAft>
              <a:defRPr sz="2000">
                <a:solidFill>
                  <a:srgbClr val="0B1F3A"/>
                </a:solidFill>
              </a:defRPr>
            </a:pPr>
            <a:r>
              <a:t>•  Use per-model pricing to make 'cost' a real dollar signal, not a proxy</a:t>
            </a:r>
          </a:p>
          <a:p>
            <a:pPr>
              <a:spcAft>
                <a:spcPts val="600"/>
              </a:spcAft>
              <a:defRPr sz="2000">
                <a:solidFill>
                  <a:srgbClr val="0B1F3A"/>
                </a:solidFill>
              </a:defRPr>
            </a:pPr>
            <a:r>
              <a:t>•  Two-tier cache: hot exact-match layer + SCALM semantic layer</a:t>
            </a:r>
          </a:p>
          <a:p>
            <a:pPr>
              <a:spcAft>
                <a:spcPts val="600"/>
              </a:spcAft>
              <a:defRPr sz="2000">
                <a:solidFill>
                  <a:srgbClr val="0B1F3A"/>
                </a:solidFill>
              </a:defRPr>
            </a:pPr>
            <a:r>
              <a:t>•    Cheap hits fast, expensive misses caught by the semantic layer</a:t>
            </a:r>
          </a:p>
          <a:p>
            <a:pPr>
              <a:spcAft>
                <a:spcPts val="600"/>
              </a:spcAft>
              <a:defRPr sz="2000">
                <a:solidFill>
                  <a:srgbClr val="0B1F3A"/>
                </a:solidFill>
              </a:defRPr>
            </a:pPr>
            <a:r>
              <a:t>•  Better drift detection via streaming statistical process control (CUSUM / EWMA)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555555"/>
                </a:solidFill>
              </a:defRPr>
            </a:pPr>
            <a:r>
              <a:t>§4  Critique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0B1F3A"/>
                </a:solidFill>
              </a:defRPr>
            </a:pPr>
            <a:r>
              <a:t>•  Exact-match caches are the wrong tool for conversational LLM traffic</a:t>
            </a:r>
          </a:p>
          <a:p>
            <a:pPr>
              <a:spcAft>
                <a:spcPts val="600"/>
              </a:spcAft>
              <a:defRPr sz="2000">
                <a:solidFill>
                  <a:srgbClr val="0B1F3A"/>
                </a:solidFill>
              </a:defRPr>
            </a:pPr>
            <a:r>
              <a:t>•  SCALM's semantic-cluster design turns paraphrase into hits — 2–3× hit-rate lift</a:t>
            </a:r>
          </a:p>
          <a:p>
            <a:pPr>
              <a:spcAft>
                <a:spcPts val="600"/>
              </a:spcAft>
              <a:defRPr sz="2000">
                <a:solidFill>
                  <a:srgbClr val="0B1F3A"/>
                </a:solidFill>
              </a:defRPr>
            </a:pPr>
            <a:r>
              <a:t>•  The clustering layer is the interesting contribution, not the embedding step</a:t>
            </a:r>
          </a:p>
          <a:p>
            <a:pPr>
              <a:spcAft>
                <a:spcPts val="600"/>
              </a:spcAft>
              <a:defRPr sz="2000">
                <a:solidFill>
                  <a:srgbClr val="0B1F3A"/>
                </a:solidFill>
              </a:defRPr>
            </a:pPr>
            <a:r>
              <a:t>•  Its eviction is a coarse cost-frequency heuristic — a natural place for GDSF</a:t>
            </a:r>
          </a:p>
          <a:p>
            <a:pPr>
              <a:spcAft>
                <a:spcPts val="600"/>
              </a:spcAft>
              <a:defRPr sz="2000">
                <a:solidFill>
                  <a:srgbClr val="0B1F3A"/>
                </a:solidFill>
              </a:defRPr>
            </a:pPr>
            <a:r>
              <a:t>•  Direct link to my final project: cost-aware eviction on GPTCache</a:t>
            </a:r>
          </a:p>
          <a:p>
            <a:pPr>
              <a:spcAft>
                <a:spcPts val="600"/>
              </a:spcAft>
              <a:defRPr sz="2000">
                <a:solidFill>
                  <a:srgbClr val="0B1F3A"/>
                </a:solidFill>
              </a:defRPr>
            </a:pPr>
            <a:r>
              <a:t>•    Same theoretical lineage; SCALM sits one layer above the eviction policy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11064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4F6F8"/>
                </a:solidFill>
              </a:defRPr>
            </a:pPr>
            <a:r>
              <a:t>SCALM: Towards Semantic Caching for Automated Chat Services with LLMs</a:t>
            </a:r>
          </a:p>
          <a:p>
            <a:pPr>
              <a:spcAft>
                <a:spcPts val="1000"/>
              </a:spcAft>
              <a:defRPr sz="2000">
                <a:solidFill>
                  <a:srgbClr val="F4F6F8"/>
                </a:solidFill>
              </a:defRPr>
            </a:pPr>
            <a:r>
              <a:t>Chen Wang, Xinyi Feng, Ao Cheng, Junchen Wang — arXiv:2406.00025 (June 2024)</a:t>
            </a:r>
          </a:p>
          <a:p>
            <a:pPr>
              <a:spcAft>
                <a:spcPts val="1000"/>
              </a:spcAft>
              <a:defRPr sz="2000">
                <a:solidFill>
                  <a:srgbClr val="F4F6F8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F4F6F8"/>
                </a:solidFill>
              </a:defRPr>
            </a:pPr>
            <a:r>
              <a:t>Slides &amp; code for my project available at:</a:t>
            </a:r>
          </a:p>
          <a:p>
            <a:pPr>
              <a:spcAft>
                <a:spcPts val="1000"/>
              </a:spcAft>
              <a:defRPr sz="2000">
                <a:solidFill>
                  <a:srgbClr val="F4F6F8"/>
                </a:solidFill>
              </a:defRPr>
            </a:pPr>
            <a:r>
              <a:t>https://github.com/nissimbrami/cost-aware-eviction-gptcache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85216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2E86AB"/>
                </a:solidFill>
              </a:defRPr>
            </a:pPr>
            <a:r>
              <a:t>Nissim Brami · nissimbrami@post.bgu.ac.il · Caching in LLMs, BGU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