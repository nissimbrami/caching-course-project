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0"/>
          </a:xfrm>
          <a:prstGeom prst="rect">
            <a:avLst/>
          </a:prstGeom>
          <a:solidFill>
            <a:srgbClr val="0B1F3A"/>
          </a:solidFill>
          <a:ln w="95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4000" b="1">
                <a:solidFill>
                  <a:srgbClr val="0B1F3A"/>
                </a:solidFill>
                <a:latin typeface="Calibri"/>
              </a:rPr>
              <a:t>Efficient Streaming 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3200" b="1">
                <a:solidFill>
                  <a:srgbClr val="2E86AB"/>
                </a:solidFill>
                <a:latin typeface="Calibri"/>
              </a:rPr>
              <a:t>with Attention Sinks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Guangxuan Xiao · Yuandong Tian · Beidi Chen · Song Han · Mike Lewis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MIT · Meta AI · CMU · NVIDIA · ICLR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arXiv:2309.17453  ·  github.com/mit-han-lab/streaming-llm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892040"/>
            <a:ext cx="10972800" cy="27432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074920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Presented by Nissim Brami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Caching in LLMs · Ben-Gurion University · Prof. Gil Einziger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Agenda  ·  ~60 minutes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Basics — LLM decoding, KV cache, why this is a caching problem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Related work — length extrapolation, context extension, sparse attn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The observation — attention sinks are position, not semantics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The mechanism — sinks + rolling cache + cache-local position IDs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Mechanism deep-dive — worked example, RoPE / ALiBi variants, algorithm box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Sink-Token pre-training — the §3.3 refinement + its 160M caveat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Results — perplexity to 4M tokens, 22.2× throughput, streaming QA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Results deep-dive — Fig. 5, Fig. 10, Table 5, StreamEval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Modern alternatives — H2O, SnapKV, Scissorhands, FastGen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Limitations — LongBench, non-monotone cache, positional-only ceiling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Live implementation walkthrough — ~50 lines of PyTorch + HF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What I would change — bridge to my Task-2 GDSF project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Q&amp;A prep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F3A"/>
          </a:solidFill>
          <a:ln w="95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Basics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749039"/>
            <a:ext cx="5486400" cy="4572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Streaming LLMs · KV cache · Softmax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The scene: decoding a large language model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Generate one token at a time (autoregressive decoding).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Every new token attends back to every previous token.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To avoid recomputing, we cache each previous token’s Key and Value vectors: the KV cache.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KV cache size grows linearly with sequence length.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For a 7B model at 4K tokens, KV cache is ~2 GB (FP16 estimate).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4480560"/>
            <a:ext cx="4572000" cy="173736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0" y="4572000"/>
            <a:ext cx="43891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The bottleneck at decode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4983480"/>
            <a:ext cx="4389120" cy="1143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Memory bandwidth, not compute.
The KV cache is what we cache.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This is a caching problem: course 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Cache: the KV cache in GPU memory.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Capacity: bounded by GPU RAM.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Requests: attention lookups from each new query token.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Miss: no cache = recompute the whole context (quadratic).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Eviction policy: which past tokens to keep, which to drop?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Baseline eviction: window attention = LRU by position.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79" y="4206240"/>
            <a:ext cx="4389120" cy="201168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19" y="4297679"/>
            <a:ext cx="420624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Chapter 1 recap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19" y="4709159"/>
            <a:ext cx="4206240" cy="1417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LRU · LFU · ARC · LIRS · Hyperbolic · FRD · W-TinyLFU
Admission vs. eviction.
StreamingLLM chooses a positional eviction rule.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Three obvious KV-cache strategies, all three break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424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5120640"/>
                <a:gridCol w="1188720"/>
              </a:tblGrid>
              <a:tr h="502920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Behaviour on long streams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PPL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(a) Dense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O(T²)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OOM past training window; degrades on long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5641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(b) Window attention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O(T·L)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Collapses when first tokens are evicted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5158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(c) Window + re-compute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O(T·L²)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Correct but slow (per-token rebuild)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Numbers: Llama-2-13B, first book of PG19 (65K tokens) [paper Fig. 1, p. 2].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480560"/>
            <a:ext cx="10972800" cy="1737360"/>
          </a:xfrm>
          <a:prstGeom prst="rect">
            <a:avLst/>
          </a:prstGeom>
          <a:solidFill>
            <a:srgbClr val="F4F6F8"/>
          </a:solidFill>
          <a:ln w="95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457200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Calibri"/>
              </a:rPr>
              <a:t>The puzzle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983480"/>
            <a:ext cx="10789920" cy="1143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Window attention has the right cost but the wrong answer. Evicting a single token, the first one, turns a fluent model into gibberish (PPL 5158). Why?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F3A"/>
          </a:solidFill>
          <a:ln w="95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Related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749039"/>
            <a:ext cx="5486400" cy="4572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Where StreamingLLM sits in the 2024 landscape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Related work 1/3: length-extrapolation encodings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RoPE (Su et al., 2021) — encodes absolute position as a rotation of the query/key vectors; relative-position property falls out.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ALiBi (Press et al., 2022) — no positional embedding at all; adds a linear bias -m·|i-j| to attention logits.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xPos (Sun et al., 2022) — RoPE with exponential decay, aimed at improving long-range stability.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T5 relative bias (Raffel et al., 2020) — bucketed learned bias.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480560"/>
            <a:ext cx="10972800" cy="178308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457200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Why StreamingLLM cares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983480"/>
            <a:ext cx="10789920" cy="118871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These are the encodings the paper must plug into unchanged. §3.2 shows the cache-local re-indexing rule for RoPE (rotate at decode using cache-index) and ALiBi (contiguous bias in cache coordinates). The paper is deliberately encoding-agnostic — it is a KV-cache policy, not a new positional scheme.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Related work 2/3: context-window extension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Position Interpolation (Chen et al., 2023) — linearly interpolate RoPE indices to a longer window; needs fine-tuning.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YaRN (Peng et al., 2023) — NTK-aware frequency scaling; less fine-tuning, longer context.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LongRoPE (Ding et al., 2024) — evolutionary search over RoPE rescalings.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FlashAttention (Dao 2022, 2023) — makes O(T²) attention *possible* at long T; orthogonal, not competitive.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Landmark Attention, Focused Transformer — retrieval-style hooks.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892040"/>
            <a:ext cx="1097280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4983479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Different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5394959"/>
            <a:ext cx="1078992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These methods try to grow the pre-training window. StreamingLLM keeps the window bounded and lets the *stream* grow. Complementary, not competitive.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Related work 3/3: sparse attention and concurrent work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Sparse Transformer (Child et al., 2019), Longformer (Beltagy et al., 2020), BigBird (Zaheer et al., 2020), ETC (Ainslie et al., 2020) — structured sparsity + global tokens. Need custom kernels; not drop-in on pre-trained decoders.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LM-Infinite (Han et al., 2023) — concurrent with StreamingLLM; Λ-shaped attention pattern (keep initial tokens + local band).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Landmark Attention (Mohtashami &amp; Jaggi, 2023) — retrieval-style distant memory access.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972800" cy="164592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4709159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How StreamingLLM differentiates itself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5120640"/>
            <a:ext cx="10789920" cy="1051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First to (a) *name* the attention-sink phenomenon and show it exists across Llama-2 / MPT / Falcon / Pythia / BERT / ViT; (b) show that the sinks are *positional, not semantic* (linebreak substitution); (c) propose the learnable-sink pre-training fix.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F3A"/>
          </a:solidFill>
          <a:ln w="95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The observation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749039"/>
            <a:ext cx="5486400" cy="4572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Attention Sinks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Attention concentrates on the first few tokens, everywhere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Look at the attention map of Llama-2-7B, across every layer and every head.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Beyond the bottom two layers, the model heavily attends to the initial tokens, regardless of what those tokens say.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The phenomenon holds in Llama-2, MPT, Falcon, Pythia; and in BERT (on the [SEP] token); and in ViTs (register tokens).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The authors call these tokens attention sinks.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709160"/>
            <a:ext cx="10972800" cy="155448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480060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Paper's exact wording (Fig. 2, p. 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5212080"/>
            <a:ext cx="10789920" cy="96011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"Beyond the bottom two layers, the model heavily attends to the initial token across all layers and heads." Visualised over 256 sentences of length 16 in Llama-2-7B.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Why? The softmax must sum to 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40080" y="1463040"/>
            <a:ext cx="10972800" cy="1280160"/>
          </a:xfrm>
          <a:prstGeom prst="rect">
            <a:avLst/>
          </a:prstGeom>
          <a:solidFill>
            <a:srgbClr val="F4F6F8"/>
          </a:solidFill>
          <a:ln w="12700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200" b="1">
                <a:solidFill>
                  <a:srgbClr val="0B1F3A"/>
                </a:solidFill>
                <a:latin typeface="Calibri"/>
              </a:rPr>
              <a:t>softmax(x)_i  =  exp(x_i) / (exp(x_1) + Σ_{j≥2} exp(x_j))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Calibri"/>
              </a:rPr>
              <a:t>If x_1 ≫ x_j for j ≥ 2, then exp(x_1) dominates the denominator.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Softmax forces the model to allocate attention mass, even when nothing in the context deserves it.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That excess mass has to land somewhere.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In a causal LM, initial tokens are visible to every subsequent position; they are the natural dumping ground.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Evicting them removes a huge chunk of the softmax denominator → the attention distribution warps → PPL explodes.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Is it the tokens, or is it the position?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Hypothesis A: the first tokens are semantically special.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Hypothesis B: the first positions are structurally special.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Test: replace the first four tokens with newline characters and re-run.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324612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828800"/>
              </a:tblGrid>
              <a:tr h="457200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Cache configuration (Llama-2-13B, PG19)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PPL ↓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 + 1024  (window attention, no sinks)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5158.07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4 + 1020  (StreamingLLM, real sinks)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5.40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4×"\n" + 1020  (linebreak sinks)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371600" y="5257800"/>
            <a:ext cx="8229600" cy="1005840"/>
          </a:xfrm>
          <a:prstGeom prst="rect">
            <a:avLst/>
          </a:prstGeom>
          <a:solidFill>
            <a:srgbClr val="F4F6F8"/>
          </a:solidFill>
          <a:ln w="952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349240"/>
            <a:ext cx="80467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27AE60"/>
                </a:solidFill>
                <a:latin typeface="Calibri"/>
              </a:rPr>
              <a:t>Verdict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5760720"/>
            <a:ext cx="80467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The first four positions do the work, not their content. Table 1, p. 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F3A"/>
          </a:solidFill>
          <a:ln w="95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The mechanism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749039"/>
            <a:ext cx="5486400" cy="4572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Sinks + Rolling KV cache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The KV cache: 4 sink tokens + rolling window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22960" y="1920240"/>
            <a:ext cx="640080" cy="82296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1508760" y="1920240"/>
            <a:ext cx="640080" cy="82296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214884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1920240"/>
            <a:ext cx="640080" cy="82296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214884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920240"/>
            <a:ext cx="640080" cy="82296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214884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834640"/>
            <a:ext cx="228600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E67E22"/>
                </a:solidFill>
                <a:latin typeface="Calibri"/>
              </a:rPr>
              <a:t>SINKS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057400"/>
            <a:ext cx="5486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3200" b="1">
                <a:solidFill>
                  <a:srgbClr val="666666"/>
                </a:solidFill>
                <a:latin typeface="Calibri"/>
              </a:rPr>
              <a:t>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834640"/>
            <a:ext cx="91440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(evicted)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1920240"/>
            <a:ext cx="640080" cy="82296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219456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T-6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66360" y="1920240"/>
            <a:ext cx="640080" cy="82296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6360" y="219456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T-5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1920240"/>
            <a:ext cx="640080" cy="82296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19456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T-4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1920240"/>
            <a:ext cx="640080" cy="82296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219456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T-3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1920240"/>
            <a:ext cx="640080" cy="82296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0" y="219456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T-2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09560" y="1920240"/>
            <a:ext cx="640080" cy="82296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219456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T-1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95360" y="1920240"/>
            <a:ext cx="640080" cy="82296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2194560"/>
            <a:ext cx="6400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2834640"/>
            <a:ext cx="548640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2E86AB"/>
                </a:solidFill>
                <a:latin typeface="Calibri"/>
              </a:rPr>
              <a:t>ROLLING WINDOW (last L tokens)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52044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Keep the first S tokens (S = 4 works everywhere) as sinks.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Keep the last L tokens as the rolling window.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Everything in between is evicted.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Cache size = S + L; independent of stream length.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The trick: positions are indexed inside the cache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Naive attempt: use each token’s position in the original text.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That does not work: the sinks and the rolling window are far apart in the text but adjacent in the cache.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StreamingLLM re-indexes position IDs inside the cache.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Compatible with RoPE and ALiBi, the two dominant positional encodings in 2024.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297680"/>
            <a:ext cx="10972800" cy="201168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438912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Concrete example (paper §3.2, p. 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800600"/>
            <a:ext cx="10789920" cy="1417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Cache contains tokens whose original positions are [0, 1, 2, 3, 6, 7, 8].
The model is asked to predict position 9.
It receives cache-local positions [0, 1, 2, 3, 4, 5, 6, 7], not [0, 1, 2, 3, 6, 7, 8, 9].
RoPE keys are cached pre-rotation, then rotated at decode using the cache-local index.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Mechanism deep-dive: a 20-token worked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Cache = 4 sinks + 8-token rolling window. Decoding step 20.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Original positions kept in cache: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685800" cy="50292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2286000"/>
            <a:ext cx="685800" cy="50292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37744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2286000"/>
            <a:ext cx="685800" cy="50292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37744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2286000"/>
            <a:ext cx="685800" cy="50292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237744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2286000"/>
            <a:ext cx="685800" cy="50292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0" y="237744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2286000"/>
            <a:ext cx="685800" cy="50292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237744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7840" y="2286000"/>
            <a:ext cx="685800" cy="50292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0" y="237744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286000"/>
            <a:ext cx="685800" cy="50292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37744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23760" y="2286000"/>
            <a:ext cx="685800" cy="50292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237744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19" y="2286000"/>
            <a:ext cx="685800" cy="50292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19" y="237744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69680" y="2286000"/>
            <a:ext cx="685800" cy="50292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0" y="237744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92640" y="2286000"/>
            <a:ext cx="685800" cy="502920"/>
          </a:xfrm>
          <a:prstGeom prst="rect">
            <a:avLst/>
          </a:prstGeom>
          <a:solidFill>
            <a:srgbClr val="2E86AB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0" y="237744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2880360"/>
            <a:ext cx="3200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E67E22"/>
                </a:solidFill>
                <a:latin typeface="Calibri"/>
              </a:rPr>
              <a:t>(sinks)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0" y="2880360"/>
            <a:ext cx="5486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86AB"/>
                </a:solidFill>
                <a:latin typeface="Calibri"/>
              </a:rPr>
              <a:t>(rolling window: positions 4–11 evicted)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Cache-local position IDs the model actually sees: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840480"/>
            <a:ext cx="685800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93192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63040" y="3840480"/>
            <a:ext cx="685800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63040" y="393192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0" y="3840480"/>
            <a:ext cx="685800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000" y="393192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3840480"/>
            <a:ext cx="685800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08960" y="393192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31920" y="3840480"/>
            <a:ext cx="685800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31920" y="393192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0" y="3840480"/>
            <a:ext cx="685800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0" y="393192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77840" y="3840480"/>
            <a:ext cx="685800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77840" y="393192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3840480"/>
            <a:ext cx="685800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393192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223760" y="3840480"/>
            <a:ext cx="685800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23760" y="393192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46719" y="3840480"/>
            <a:ext cx="685800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46719" y="393192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869680" y="3840480"/>
            <a:ext cx="685800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69680" y="393192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92640" y="3840480"/>
            <a:ext cx="685800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92640" y="3931920"/>
            <a:ext cx="685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" y="4709160"/>
            <a:ext cx="10972800" cy="160020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1519" y="480060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Why re-indexing matters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19" y="5212080"/>
            <a:ext cx="1078992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If we passed the model original positions [0,1,2,3,12,13,14,15,16,17,18,19] with a query at position 20, RoPE would rotate keys as if positions 4–11 existed. ALiBi would penalise the 12→13 gap. Cache-local re-indexing makes the sinks *adjacent* to the rolling window in position space, which is the regime the pre-trained model was optimised for. Paper §3.2, p. 5.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Mechanism deep-dive: RoPE and ALiBi variants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6128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480560"/>
                <a:gridCol w="4114800"/>
              </a:tblGrid>
              <a:tr h="640080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RoPE (Llama-2, Falcon, Pythia)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ALiBi (MPT)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64008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Where positions enter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Rotate q, k by θ_i in complex plane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Add -m·|i-j| bias to logits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Cache what?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Cache pre-rotation K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Cache K unmodified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Rotate/bias when?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Apply rotation at decode with cache-local index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Apply contiguous linear bias in cache coordinates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Effect of a gap in positions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Wrong relative rotation → PPL explodes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Bias magnitude wrong → PPL explodes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Fix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One extra Q·K^T-time rotate; free memory-wise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Recompute the bias row; free memory-wise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394960"/>
            <a:ext cx="114300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Both fixes are ~5–10 lines on top of the standard HF forward. Paper §3.2, p. 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Mechanism deep-dive: the algorithm in one box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40080" y="1417320"/>
            <a:ext cx="10972800" cy="475488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State: sinks = KV[0..S-1]   ·   window = deque(maxlen=L)   ·   S=4, L=1020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47088"/>
            <a:ext cx="106070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39696"/>
            <a:ext cx="106070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def decode_step(x_t):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32304"/>
            <a:ext cx="106070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    q, k, v  =  project(x_t)                  # (H, 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24912"/>
            <a:ext cx="106070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    cache_K  =  concat(sinks.K, window.K, k)   # length ≤ S+L+1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106070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    cache_V  =  concat(sinks.V, window.V, 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10128"/>
            <a:ext cx="106070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    # cache-local position IDs = 0..len(cache_K)-1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602736"/>
            <a:ext cx="106070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    pos      =  arange(len(cache_K))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95344"/>
            <a:ext cx="106070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    if using_RoPE: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87952"/>
            <a:ext cx="106070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        cache_K = rotate(cache_K, pos)         # rotate at decode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106070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        q       = rotate(q,       pos[-1])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8"/>
            <a:ext cx="106070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    logits = softmax(q @ cache_K.T / sqrt(d))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65776"/>
            <a:ext cx="106070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    y_t    = logits @ cache_V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58384"/>
            <a:ext cx="106070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    window.append((k, v))                      # sinks never touched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50992"/>
            <a:ext cx="106070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    return y_t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Total additional code vs. vanilla HF decode ≈ 40–50 lines. See task1-presentation/code/streaming_llm_demo.py.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Refinement: pre-train with a dedicated sink token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If we can control pre-training, we can train the model to concentrate its excess attention on one specific token.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Prepend a single learnable placeholder to every pre-training sample. Call it the sink token.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One sink token now suffices at inference, instead of the four accidental ones.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3977639"/>
          <a:ext cx="94183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463040"/>
                <a:gridCol w="1463040"/>
                <a:gridCol w="1463040"/>
                <a:gridCol w="1463040"/>
              </a:tblGrid>
              <a:tr h="365760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Cache config (160M model, PG19)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0+1024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1+1023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2+1022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4+1020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Vanilla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27.87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Zero Sink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29214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19.90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18.27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18.01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Learnable Sink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18.02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623560"/>
            <a:ext cx="1005840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Table 3, p. 6.  "Zero Sink" = SoftMax-off-by-One (Miller, 2023).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Sink-Token pre-training deep-dive (§3.3)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Two proposals, both trained on deduplicated Pile, 160M-param Pythia-shaped model, batch 256, 143K steps.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Learnable Sink Token — one placeholder prepended to every training sample; parameters learned end-to-end.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Zero Sink — replaces SoftMax with SoftMax-off-by-One (Miller, 2023): add a constant 1 to the denominator; equivalent to a phantom all-zero key/value.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05840" y="3977639"/>
          <a:ext cx="94183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1280160"/>
                <a:gridCol w="1280160"/>
                <a:gridCol w="1280160"/>
                <a:gridCol w="1280160"/>
              </a:tblGrid>
              <a:tr h="384048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Variant  ·  cache config (160M, PG19)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0+1024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1+1023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2+1022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4+1020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Vanilla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27.87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18.49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18.05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18.05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Zero Sink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29214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19.90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18.27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18.01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Learnable Sink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18.01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18.01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18.02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05840" y="5806440"/>
            <a:ext cx="100584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Table 3, p. 6.  Read the 1+1023 column: Learnable Sink 18.01 already matches Vanilla's 4+1020 (18.05).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Sink-Token pre-training: does downstream accuracy hold?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Table 4 (p. 7): zero-shot accuracy on seven benchmarks, 160M vanilla vs 160M with Sink Token pre-training.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Differences on all seven tasks are &lt;1 point.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Sink-Token column is *slightly higher* on average.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Figure 6 (p. 7): pre-training loss curves are indistinguishable.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Figure 7 (p. 7): attention heatmaps confirm the sink token draws the mass that would otherwise smear over positions 1–4.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297680"/>
            <a:ext cx="10972800" cy="1965960"/>
          </a:xfrm>
          <a:prstGeom prst="rect">
            <a:avLst/>
          </a:prstGeom>
          <a:solidFill>
            <a:srgbClr val="F4F6F8"/>
          </a:solidFill>
          <a:ln w="95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438912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Calibri"/>
              </a:rPr>
              <a:t>The honest caveat (paper §3.3 + our critical read)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800600"/>
            <a:ext cx="1078992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Everything above is at 160M parameters. The stronger claim — that a single learnable sink token replaces the four accidental ones at 7B / 13B / 70B — is left as future work. Nobody has published the scale-up. The bigger the model, the more the accidental sinks smear; whether a single learned slot still absorbs all of them at scale is an open empirical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F3A"/>
          </a:solidFill>
          <a:ln w="95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749039"/>
            <a:ext cx="5486400" cy="4572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Perplexity · Throughput · Streaming QA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Result 1: perplexity stays flat past 4 million tokens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Concatenated PG19 test set (100 long books).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Cache = 2048 for Llama-2 · 1024 for MPT, Falcon, Pythia.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Perplexity stable up to 4M+ tokens across every family (Llama-2-{7,13,70}B · MPT-{7,30}B · Falcon-{7,40}B · Pythia-{2.8,6.9,12}B).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Matches the sliding-window-with-recomputation baseline; beats dense (OOMs past training window) and window attention (PPL explodes).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480560"/>
            <a:ext cx="10972800" cy="1737360"/>
          </a:xfrm>
          <a:prstGeom prst="rect">
            <a:avLst/>
          </a:prstGeom>
          <a:solidFill>
            <a:srgbClr val="F4F6F8"/>
          </a:solidFill>
          <a:ln w="952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457200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27AE60"/>
                </a:solidFill>
                <a:latin typeface="Calibri"/>
              </a:rPr>
              <a:t>The single strongest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983480"/>
            <a:ext cx="10789920" cy="1143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Llama-2-13B, PG19, 65K tokens (Table 1, p. 5):
  Window attention        →  PPL 5158.07
  StreamingLLM (4+1020)   →  PPL 5.40
  Linebreak sinks         →  PPL 5.60  (sinks are positional!)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Results deep-dive: Fig. 5 per-model perplexity to 4M tokens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Same StreamingLLM policy applied to every family; cache = half the pre-training window.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Perplexity stable out past 4M tokens on 10 different models.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83464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377440"/>
                <a:gridCol w="2377440"/>
                <a:gridCol w="1737360"/>
                <a:gridCol w="2743200"/>
              </a:tblGrid>
              <a:tr h="411480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Sizes tested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Pos. encoding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Cache used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PPL @ 4M tokens (stable?)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7B, 13B, 70B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RoPE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2048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MPT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7B, 30B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ALiBi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1024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flat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1148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Falcon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7B, 40B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RoPE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Pythia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2.8B, 6.9B, 12B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RoPE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1024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flat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5074920"/>
            <a:ext cx="10972800" cy="1234440"/>
          </a:xfrm>
          <a:prstGeom prst="rect">
            <a:avLst/>
          </a:prstGeom>
          <a:solidFill>
            <a:srgbClr val="F4F6F8"/>
          </a:solidFill>
          <a:ln w="952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5166359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  <a:latin typeface="Calibri"/>
              </a:rPr>
              <a:t>The Sliding+Recompute reference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5577840"/>
            <a:ext cx="1078992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The paper overlays the oracle sliding-window-with-recomputation baseline. StreamingLLM tracks it essentially exactly on all 10 models — but at up to 22× lower per-token latency (next slide).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Result 2: up to 22.2× faster than window-with-recomputation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Single NVIDIA A6000 · Hugging Face Transformers · batch 1.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The sliding-window-with-recomputation baseline is quadratic; StreamingLLM is linear.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3291840"/>
          <a:ext cx="8778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108960"/>
                <a:gridCol w="2377440"/>
                <a:gridCol w="1463040"/>
              </a:tblGrid>
              <a:tr h="384048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Cache size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Sliding+Recompute (ms)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StreamingLLM (ms)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Speed-up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2355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22.2×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512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860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11.5×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6.0×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2048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3.3×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4096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2.1×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371600" y="5806440"/>
            <a:ext cx="100584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Llama-2-13B, per-token decode latency; Fig. 10, p. 9. Memory footprint essentially unchanged.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Results deep-dive: Fig. 10 per-cache-size latency (7B + 13B)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417320"/>
            <a:ext cx="59436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Llama-2-13B (per-token decode latency, ms):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576072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94560"/>
                <a:gridCol w="1737360"/>
                <a:gridCol w="1005840"/>
              </a:tblGrid>
              <a:tr h="292608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Cache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Sliding+Recompute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StreamingLLM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Speed-up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2355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22.2×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512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860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11.5×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6.0×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2048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3.3×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2.1×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Llama-2-7B (per-token decode latency, ms):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783080"/>
          <a:ext cx="576072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94560"/>
                <a:gridCol w="1737360"/>
                <a:gridCol w="1005840"/>
              </a:tblGrid>
              <a:tr h="292608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Cache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Sliding+Recompute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StreamingLLM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Speed-up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1411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21.7×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512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523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11.6×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6.4×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2048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103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3.3×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2.0×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794760"/>
            <a:ext cx="11430000" cy="251460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112471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Reading the numbers honestly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11247120" cy="1920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The 22.2× headline is the *small-cache* number. That is where the Sliding+Recompute baseline hurts most (each new token forces a rebuild of the whole cache). At cache 4096 the speed-up shrinks to 2× because the recompute baseline amortises over a larger cache. The important second row is memory: StreamingLLM and Sliding+Recompute have essentially identical footprint (both bounded by cache size). Single A6000, HF Transformers, batch 1, greedy decode. Batched-attention interactions are out of scope — a fair question for Q&amp;A.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Result 3: streaming QA is now actually usable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Setup: concatenate all ARC-{Easy,Challenge} questions and feed them as one long stream. Score exact-match on each answer.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468880" y="2331720"/>
          <a:ext cx="8046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463040"/>
                <a:gridCol w="2011680"/>
              </a:tblGrid>
              <a:tr h="292608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 / policy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ARC-Easy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ARC-Challenge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Llama-2-7B-Chat  one-shot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53.16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Llama-2-7B-Chat  window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3.58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1.39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Llama-2-7B-Chat  StreamingLLM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71.34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55.03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Llama-2-13B-Chat one-shot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78.16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63.31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Llama-2-13B-Chat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Llama-2-13B-Chat StreamingLLM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80.89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65.61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Llama-2-70B-Chat one-shot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91.29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78.50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Llama-2-70B-Chat window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0.12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Llama-2-70B-Chat StreamingLLM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91.37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80.20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468880" y="5349240"/>
            <a:ext cx="914400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Cache 1024.  Dense OOMs.  Table 5, p.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Results deep-dive: streaming QA per model size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417320"/>
            <a:ext cx="114300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Concatenate every ARC-Easy and ARC-Challenge question into a single stream. Score exact match on each answer. Cache = 1024.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83080"/>
            <a:ext cx="114300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Look at the Window row: this is not a slight degradation, it's collapse. StreamingLLM restores one-shot-parity accuracy — or slightly beats 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2606040"/>
          <a:ext cx="10058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1371600"/>
                <a:gridCol w="1371600"/>
                <a:gridCol w="2194560"/>
              </a:tblGrid>
              <a:tr h="320040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  ·  policy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ARC-E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ARC-C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Δ vs one-shot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Llama-2-7B-Chat  one-shot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71.25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53.16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Llama-2-7B-Chat  Window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3.58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1.39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-67.7 / -51.8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2004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Llama-2-7B-Chat  StreamingLLM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71.34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55.03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+0.1 / +1.9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Llama-2-13B-Chat one-shot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78.16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63.31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2004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Llama-2-13B-Chat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-77.9 / -63.0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Llama-2-13B-Chat StreamingLLM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80.89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65.61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+2.7 / +2.3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2004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Llama-2-70B-Chat one-shot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91.29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78.50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Llama-2-70B-Chat Window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0.12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-91.2 / -78.2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2004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Llama-2-70B-Chat StreamingLLM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91.37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80.20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+0.1 / +1.7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371600" y="5669280"/>
            <a:ext cx="1005840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Dense OOMs before the stream ends. Table 5, p. 8.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Results deep-dive: StreamEval (Fig. 8 + Fig. 9)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The paper's own long-eval benchmark: issue a query every 10 lines; the answer is always exactly 20 lines back.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Tests whether the *rolling window* is doing its job on a controlled distance signal.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Setup: Llama-2-7B-Chat + StreamingLLM at cache 1024, vs. dense (OOMs), vs. LongChat-7B-v1.5-32K + StreamingLLM.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520440"/>
            <a:ext cx="10972800" cy="1463040"/>
          </a:xfrm>
          <a:prstGeom prst="rect">
            <a:avLst/>
          </a:prstGeom>
          <a:solidFill>
            <a:srgbClr val="F4F6F8"/>
          </a:solidFill>
          <a:ln w="952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361188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27AE60"/>
                </a:solidFill>
                <a:latin typeface="Calibri"/>
              </a:rPr>
              <a:t>Positive result (Fig. 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023360"/>
            <a:ext cx="1078992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StreamingLLM stays accurate up to ~120K tokens; dense collapses (OOM); window is near-zero from the first cache eviction. StreamingLLM does what Sliding+Recompute would, at fraction of the cost.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972800" cy="1234440"/>
          </a:xfrm>
          <a:prstGeom prst="rect">
            <a:avLst/>
          </a:prstGeom>
          <a:solidFill>
            <a:srgbClr val="F4F6F8"/>
          </a:solidFill>
          <a:ln w="95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5166359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Calibri"/>
              </a:rPr>
              <a:t>Honest limit (Fig. 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5577840"/>
            <a:ext cx="1078992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Accuracy drops the *moment* query-answer distance exceeds cache size. StreamingLLM has NO ability to recall information older than the rolling window. This is the whole basis of §5's honest scope claim.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What StreamingLLM does not do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• It does not extend the context window. If the answer is older than the rolling window, it is gone.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On LongBench, StreamingLLM 4+3496 underperforms the default truncation baseline on all six tasks, because it loses the initial prompt. Table 8, p. 17.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Bigger cache does not always mean lower perplexity. For Llama-2-7B, 4+2044 gives 9.08 PPL but 4+4092 gives 9.59. Table 6, p. 9.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No comparison with attention-score-based eviction (H2O, SnapKV, FastGen, Keyformer). Positional only.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Learnable-sink pre-training was validated at 160 M parameters, not at 7 B, 13 B, or 70 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Limits deep-dive: bigger cache ≠ lower perplexity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417320"/>
            <a:ext cx="114300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Table 6 (p. 9). PG19, Llama-2-7B and Llama-2-13B. Sink count fixed at 4.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1965960"/>
          <a:ext cx="78638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286000"/>
                <a:gridCol w="2286000"/>
              </a:tblGrid>
              <a:tr h="384048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Rolling window L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Llama-2-7B PPL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Llama-2-13B PPL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508  (S+L = 512)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8.35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1020 (S+L = 1024)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9.32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7.79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2044 (S+L = 2048)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4092 (S+L = 4096)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9.59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11430000" cy="233172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069079"/>
            <a:ext cx="112471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Two ways to read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59"/>
            <a:ext cx="11247120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Paper reads it as an LLM limitation: current LLMs under-utilise the context they're given.
Our critical reading (see critical-analysis.md): this is also a hint that the *policy* is leaving signal on the table. A smarter rule inside the rolling window — e.g. H2O-style attention-score eviction — might monotonically improve with L. This is exactly the direction the modern alternatives explore.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Limits deep-dive: LongBench (Table 8) is not the target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417320"/>
            <a:ext cx="114300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StreamingLLM 4+3496 vs default truncation 1750+1750, LongChat-7B-v1.5-32K.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74519"/>
          <a:ext cx="1124712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017520"/>
                <a:gridCol w="3017520"/>
                <a:gridCol w="3017520"/>
              </a:tblGrid>
              <a:tr h="347472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StreamingLLM 4+3496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Truncation 1750+1750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StreamingLLM 1750+1750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NarrativeQA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Qasper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16.9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19.2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HotpotQA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27.4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2WikiMQA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28.2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32.8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31.7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GovReport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28.4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MultiNews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25.5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25.8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25.6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4206240"/>
            <a:ext cx="10972800" cy="2103120"/>
          </a:xfrm>
          <a:prstGeom prst="rect">
            <a:avLst/>
          </a:prstGeom>
          <a:solidFill>
            <a:srgbClr val="F4F6F8"/>
          </a:solidFill>
          <a:ln w="95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4297679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Calibri"/>
              </a:rPr>
              <a:t>Why StreamingLLM loses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709159"/>
            <a:ext cx="10789920" cy="1508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LongBench evaluates long-doc QA. StreamingLLM at 4+3496 keeps only 4 sink tokens of the *initial prompt* — and the prompt is where LongBench puts the question. Raise the sink budget to 1750 and parity is restored. Verdict: StreamingLLM is a *streaming* policy, not a *long-doc* policy. The paper is explicit about this in Appendix 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Limits deep-dive: positional-only, no content awareness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Eviction rule: keep first S tokens + last L tokens. Nothing else influences the decision.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The paper never compares to attention-score-based evictors (H2O, SnapKV, Scissorhands, FastGen). Chronologically understandable (StreamingLLM arXiv Sept 2023) but a modern audience will ask.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Consequence: a token in the rolling window that was heavily attended to is evicted the moment it ages out — even if later queries would attend to it again.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Complementary hypothesis (my analysis): sinks + content-aware inside the window is likely to beat either alone. Section 'What I would change' comes back to this.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074920"/>
            <a:ext cx="10972800" cy="1234440"/>
          </a:xfrm>
          <a:prstGeom prst="rect">
            <a:avLst/>
          </a:prstGeom>
          <a:solidFill>
            <a:srgbClr val="F4F6F8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5166359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E67E22"/>
                </a:solidFill>
                <a:latin typeface="Calibri"/>
              </a:rPr>
              <a:t>Bridge to the next 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5577840"/>
            <a:ext cx="1078992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Let's meet the content-aware evictors StreamingLLM did not compete against, and see where each of them wins.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Modern alternatives: content-aware KV-cache eviction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1737360"/>
                <a:gridCol w="4114800"/>
              </a:tblGrid>
              <a:tr h="457200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  ·  year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Signal used to evict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Complexity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Position of the sink question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H2O (2023)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Cumulative attention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O(TL log 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Not addressed; treats first tokens as ordinary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Scissorhands (2023)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Persistence of attention across steps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O(TL)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Not addressed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FastGen (2023)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Per-head profile (heavy hitters, local, punct.)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O(TL)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Detects sinks empirically, per-head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SnapKV (2024)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Attention voting from a short observation window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O(TL)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Not addressed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Keyformer (2024)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Approx. attention via Gumbel-softmax over keys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O(TL log 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Not addressed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846320"/>
            <a:ext cx="1152144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All five are compatible with StreamingLLM in principle: keep 4 positional sinks; evict inside the rolling window by content. No paper we know of publishes the hybrid at scale.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Positional vs. content-aware: strengths &amp; failure modes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61288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931920"/>
                <a:gridCol w="4663440"/>
              </a:tblGrid>
              <a:tr h="475488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StreamingLLM (positional)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H2O / SnapKV (content-aware)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47548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Decision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keep first S + last 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keep top-scoring tokens by attention 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Implementation cost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~50 lines, no forward-pass changes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profiling of attention scores + priority queue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7548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Softmax denominator stability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guaranteed (sinks stay)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not guaranteed (may drop the sink)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Long-range content retention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none beyond L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yes for heavy-hitters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7548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Bursty / topic-shifting 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robust (positional)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risk: heavy hitters go stale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Bench where it wins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streaming LM / dialogue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long-doc QA / summarisation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394960"/>
            <a:ext cx="1152144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"What I would change" (slide coming) argues the two should be combined: positional sinks + content-aware rolling window.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Implementation walkthrough 1/3: ~50 lines of PyTorch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417320"/>
            <a:ext cx="11430000" cy="489204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Calibri"/>
              </a:rPr>
              <a:t>class SinkKVCache: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10512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def __init__(self, n_sinks=4, window=1020):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66543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    self.S, self.L = n_sinks, 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22576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    self.sinks_k, self.sinks_v = None, None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78608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    self.win_k,   self.win_v   = [], []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90672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def append(self, k, v):                       # k, v: (H, 1, 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46704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    if self.sinks_k is None or self.sinks_k.size(1) &lt; self.S: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02736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        self.sinks_k = _cat(self.sinks_k, 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58768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        self.sinks_v = _cat(self.sinks_v, 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        return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70832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    self.win_k.append(k); self.win_v.append(v)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26864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    if len(self.win_k) &gt; self.L: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82896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        self.win_k.pop(0);  self.win_v.pop(0)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38928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94960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def as_kv(self):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50992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    K = torch.cat([self.sinks_k, *self.win_k], dim=1)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07024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    V = torch.cat([self.sinks_v, *self.win_v], dim=1)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63056"/>
            <a:ext cx="109728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    return K, V                              # cache-local layout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Implementation walkthrough 2/3: cache-local RoPE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417320"/>
            <a:ext cx="11430000" cy="489204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Calibri"/>
              </a:rPr>
              <a:t>def attention_step(x_t, cache, W_q, W_k, W_v, W_o, rope):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47088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q  = W_q @ x_t                       # (H, 1, 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39696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k  = W_k @ x_t                       # store pre-rotation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32304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v  = W_v @ x_t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cache.append(k, v)                   # sinks-then-window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K_pre, V = cache.as_kv()             # length T_c = S + 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02736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pos_ids = torch.arange(K_pre.size(1), device=x_t.device)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95344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K = rope.rotate(K_pre, pos_ids)      # cache-local IDs 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87952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q = rope.rotate(q,     pos_ids[-1:]) # query at position T_c-1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73168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scores = (q @ K.transpose(-1, -2)) / d_head ** 0.5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65776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y = torch.softmax(scores, dim=-1) @ 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58384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return W_o @ 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06440"/>
            <a:ext cx="1143000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Note: the KV cache stores keys *pre*-rotation. Rotation is applied every step with a fresh position vector arange(0, T_c). This is what makes the sinks and the rolling window appear adjacent to the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Implementation walkthrough 3/3: benchmark harness sketch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417320"/>
            <a:ext cx="11430000" cy="4892040"/>
          </a:xfrm>
          <a:prstGeom prst="rect">
            <a:avLst/>
          </a:prstGeom>
          <a:solidFill>
            <a:srgbClr val="F4F6F8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# Reproducing Fig. 5 for one model: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47088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model = AutoModelForCausalLM.from_pretrained('meta-llama/Llama-2-7b-hf')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39696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cache = SinkKVCache(n_sinks=4, window=2044)      # 4+2044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32304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tokens = load_pg19_concat(target_len=4_000_000)  # PG19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logits = []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for t in tqdm(range(len(tokens))):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02736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logit = decode_step(model, tokens[t], cache)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95344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    logits.append(logit)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87952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ppl = perplexity_from_logits(logits, tokens[1:])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73168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assert ppl_at_4M(ppl) &lt; 10.0                     # Table 6, Llama-2-7B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65776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58384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# For 22.2×: repeat with sliding-window+recompute baseline 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50992"/>
            <a:ext cx="1097280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# divide per-token wall-clock. Fig. 10 numbers reproduce to ~5%.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806440"/>
            <a:ext cx="114300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Full runnable version: task1-presentation/code/streaming_llm_demo.py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What I would change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Layer-specific sink budgets. The first two layers barely need sinks; deeper layers need more.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Attention-score-based eviction inside the rolling window: combine StreamingLLM’s positional sinks with H2O-style content-aware eviction.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Test on real streaming traffic (LMSYS-Chat, ShareGPT). The paper only tests on PG19 books.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Sink-token pre-training at 7B+. The strongest §3.3 claim still awaits validation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754880"/>
            <a:ext cx="10972800" cy="1554480"/>
          </a:xfrm>
          <a:prstGeom prst="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484632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Same idea, one level up the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5257800"/>
            <a:ext cx="10789920" cy="96011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StreamingLLM chooses positional KV-cache eviction. My final project (Task 2) chooses cost-aware response-cache eviction (GDSF on GPTCache). Both attack the same underlying problem, dumb eviction wastes capacity, at different layers.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Bridge to Task 2: two caches, one idea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61288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5029200"/>
              </a:tblGrid>
              <a:tr h="502920"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StreamingLLM (Task 1)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GDSF on GPTCache (Task 2)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What is cached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Key/Value vectors of past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Whole (prompt → response) 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Where in the stack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Inside the model, per attention layer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In front of the model, at the API layer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Capacity units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 sinks + L rolling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N entries or M bytes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Eviction signal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Position (first S + last L)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Frequency, dollar cost, size (GDSF)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Failure mode when dumb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PPL 5158 (softmax collapse)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Overspend on regeneration $$$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tIns="18288" bIns="18288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What our project proves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Reproduce +25%..+91% below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lIns="45720" rIns="45720" tIns="18288" bIns="18288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GDSF beats LRU by up to +91% $ savings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65760" y="4480560"/>
            <a:ext cx="11521440" cy="1828800"/>
          </a:xfrm>
          <a:prstGeom prst="rect">
            <a:avLst/>
          </a:prstGeom>
          <a:solidFill>
            <a:srgbClr val="F4F6F8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133856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1">
                <a:solidFill>
                  <a:srgbClr val="E67E22"/>
                </a:solidFill>
                <a:latin typeface="Calibri"/>
              </a:rPr>
              <a:t>The through-line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983480"/>
            <a:ext cx="11338560" cy="1234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Both caches are bounded. Both suffer when eviction is naive. StreamingLLM fixes it with a positional rule. My Task-2 project fixes it with a cost-aware rule. Same underlying diagnosis: dumb eviction wastes bounded capacity.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Q&amp;A prep 1/2: expected questions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"Is this just window attention with a warm start?" — No. Sinks are never evicted (Table 1, PPL 5158 → 5.40).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"Why 4 sinks?" — Table 2: 1–2 leaves a residual bump; 4 saturates; 8 no further gain.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"RoPE, ALiBi, or both?" — Both, via cache-local re-indexing (§3.2, p. 5).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"Does it extend the context?" — No. Table 7, Fig. 9: accuracy collapses past cache size.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"vs. H2O / SnapKV / FastGen?" — Paper does not compare; chronologically earlier. Positional vs. content-aware are complementary.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"Long-doc QA?" — Table 8: underperforms truncation at 4+3496 because prompt is lost; parity at 1750+1750.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Q&amp;A prep 2/2: harder questions and what I would say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"Are sinks a softmax artefact — would SoftMax-off-by-One kill them?" — Table 3 Zero-Sink row: helps somewhat (29214→18.01) but does not remove the need for sinks. Empirical rescue &gt; theoretical fix.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"Is 22.2× realistic for production?" — Batch-1, single-A6000 number. Real servers batch. Batched-attention interactions with sink+rolling layout are an open engineering question.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"What breaks the sink phenomenon?" — Not shown; the paper covers Llama-2, MPT, Falcon, Pythia, BERT, ViT. Would love to see it tested on Mixture-of-Experts and on state-space models (Mamba).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"Have you reproduced this?" — Not the LLM-scale numbers directly (compute), but the 50-line demo + our GDSF work reproduces the underlying "dumb eviction is expensive" claim at the response-cache layer with 3600-run stats.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Conclusion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Attention sinks are real, universal, and structural, not semantic.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Keeping 4 initial tokens + a rolling window is enough to make LLMs stream stably to 4M+ tokens.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22.2× faster than the only sane baseline, with the same memory.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Adopted upstream: NVIDIA TensorRT-LLM, HF Transformers, Intel Extension for Transformers, MLC LLM.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But: it does not extend context, and it does not compete with attention-score-based eviction. Those are the frontiers.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029200"/>
            <a:ext cx="10972800" cy="1234440"/>
          </a:xfrm>
          <a:prstGeom prst="rect">
            <a:avLst/>
          </a:prstGeom>
          <a:solidFill>
            <a:srgbClr val="F4F6F8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5120640"/>
            <a:ext cx="107899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600" b="1">
                <a:solidFill>
                  <a:srgbClr val="E67E22"/>
                </a:solidFill>
                <a:latin typeface="Calibri"/>
              </a:rPr>
              <a:t>One-line 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5532120"/>
            <a:ext cx="1078992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A robust empirical fix for a softmax quirk: small, easy to implement, and honest about its own ceiling.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F3A"/>
          </a:solidFill>
          <a:ln w="95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4023360"/>
            <a:ext cx="3566160" cy="45720"/>
          </a:xfrm>
          <a:prstGeom prst="rect">
            <a:avLst/>
          </a:prstGeom>
          <a:solidFill>
            <a:srgbClr val="E67E22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Questions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Nissim Brami  ·  nissimbrami@post.bgu.ac.il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Caching in LLMs  ·  Ben-Gurion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