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0"/>
          </a:xfrm>
          <a:prstGeom prst="rect">
            <a:avLst/>
          </a:prstGeom>
          <a:solidFill>
            <a:srgbClr val="0B1F3A"/>
          </a:solidFill>
          <a:ln w="9525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4000" b="1">
                <a:solidFill>
                  <a:srgbClr val="0B1F3A"/>
                </a:solidFill>
                <a:latin typeface="Calibri"/>
              </a:rPr>
              <a:t>Efficient Streaming Language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3200" b="1">
                <a:solidFill>
                  <a:srgbClr val="2E86AB"/>
                </a:solidFill>
                <a:latin typeface="Calibri"/>
              </a:rPr>
              <a:t>with Attention Sinks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91840"/>
            <a:ext cx="10972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Guangxuan Xiao · Yuandong Tian · Beidi Chen · Song Han · Mike Lewis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972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MIT · Meta AI · CMU · NVIDIA · ICLR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0972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arXiv:2309.17453  ·  github.com/mit-han-lab/streaming-llm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892040"/>
            <a:ext cx="10972800" cy="27432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074920"/>
            <a:ext cx="10972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Presented by Nissim Brami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Caching in LLMs · Ben-Gurion University · Prof. Gil Einziger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Agenda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Calibri"/>
              </a:rPr>
              <a:t>• The problem: LLMs cannot stream past their training window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Calibri"/>
              </a:rPr>
              <a:t>• Course anchor: this is a cache eviction policy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Calibri"/>
              </a:rPr>
              <a:t>• The observation: attention sinks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Calibri"/>
              </a:rPr>
              <a:t>• The mechanism: sinks + rolling KV cache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Calibri"/>
              </a:rPr>
              <a:t>• The pre-training variant: a learnable sink token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Calibri"/>
              </a:rPr>
              <a:t>• Results: perplexity, throughput, streaming QA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Calibri"/>
              </a:rPr>
              <a:t>• Limitations: cache size is still the ceiling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Calibri"/>
              </a:rPr>
              <a:t>• What I would change (and how it bridges to my final project)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F3A"/>
          </a:solidFill>
          <a:ln w="9525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Basics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749039"/>
            <a:ext cx="5486400" cy="45720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Streaming LLMs · KV cache · Softmax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The scene: decoding a large language model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Generate one token at a time (autoregressive decoding).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Every new token attends back to every previous token.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To avoid recomputing, we cache each previous token’s Key and Value vectors: the KV cache.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KV cache size grows linearly with sequence length.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For a 7B model at 4K tokens, KV cache is ~2 GB (FP16 estimate).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4480560"/>
            <a:ext cx="4572000" cy="1737360"/>
          </a:xfrm>
          <a:prstGeom prst="rect">
            <a:avLst/>
          </a:prstGeom>
          <a:solidFill>
            <a:srgbClr val="F4F6F8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0" y="4572000"/>
            <a:ext cx="43891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The bottleneck at decode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4983480"/>
            <a:ext cx="4389120" cy="1143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Memory bandwidth, not compute.
The KV cache is what we cache.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This is a caching problem: course 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Cache: the KV cache in GPU memory.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Capacity: bounded by GPU RAM.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Requests: attention lookups from each new query token.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Miss: no cache = recompute the whole context (quadratic).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Eviction policy: which past tokens to keep, which to drop?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Baseline eviction: window attention = LRU by position.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79" y="4206240"/>
            <a:ext cx="4389120" cy="2011680"/>
          </a:xfrm>
          <a:prstGeom prst="rect">
            <a:avLst/>
          </a:prstGeom>
          <a:solidFill>
            <a:srgbClr val="F4F6F8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19" y="4297679"/>
            <a:ext cx="420624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Chapter 1 recap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19" y="4709159"/>
            <a:ext cx="4206240" cy="1417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LRU · LFU · ARC · LIRS · Hyperbolic · FRD · W-TinyLFU
Admission vs. eviction.
StreamingLLM chooses a positional eviction rule.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Three obvious KV-cache strategies, all three break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4241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  <a:gridCol w="5120640"/>
                <a:gridCol w="1188720"/>
              </a:tblGrid>
              <a:tr h="502920"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Behaviour on long streams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PPL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50292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(a) Dense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O(T²)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OOM past training window; degrades on long 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5641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(b) Window attention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O(T·L)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Collapses when first tokens are evicted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5158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(c) Window + re-compute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O(T·L²)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Correct but slow (per-token rebuild)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5.43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72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Numbers: Llama-2-13B, first book of PG19 (65K tokens) [paper Fig. 1, p. 2].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480560"/>
            <a:ext cx="10972800" cy="1737360"/>
          </a:xfrm>
          <a:prstGeom prst="rect">
            <a:avLst/>
          </a:prstGeom>
          <a:solidFill>
            <a:srgbClr val="F4F6F8"/>
          </a:solidFill>
          <a:ln w="95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4572000"/>
            <a:ext cx="107899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Calibri"/>
              </a:rPr>
              <a:t>The puzzle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983480"/>
            <a:ext cx="10789920" cy="1143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Window attention has the right cost but the wrong answer. Evicting a single token, the first one, turns a fluent model into gibberish (PPL 5158). Why?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F3A"/>
          </a:solidFill>
          <a:ln w="9525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The observation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749039"/>
            <a:ext cx="5486400" cy="45720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Attention Sinks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Attention concentrates on the first few tokens, everywhere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Look at the attention map of Llama-2-7B, across every layer and every head.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Beyond the bottom two layers, the model heavily attends to the initial tokens, regardless of what those tokens say.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The phenomenon holds in Llama-2, MPT, Falcon, Pythia; and in BERT (on the [SEP] token); and in ViTs (register tokens).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The authors call these tokens attention sinks.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709160"/>
            <a:ext cx="10972800" cy="1554480"/>
          </a:xfrm>
          <a:prstGeom prst="rect">
            <a:avLst/>
          </a:prstGeom>
          <a:solidFill>
            <a:srgbClr val="F4F6F8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4800600"/>
            <a:ext cx="107899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Paper's exact wording (Fig. 2, p. 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5212080"/>
            <a:ext cx="10789920" cy="96011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"Beyond the bottom two layers, the model heavily attends to the initial token across all layers and heads." Visualised over 256 sentences of length 16 in Llama-2-7B.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Why? The softmax must sum to one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40080" y="1463040"/>
            <a:ext cx="10972800" cy="1280160"/>
          </a:xfrm>
          <a:prstGeom prst="rect">
            <a:avLst/>
          </a:prstGeom>
          <a:solidFill>
            <a:srgbClr val="F4F6F8"/>
          </a:solidFill>
          <a:ln w="12700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200" b="1">
                <a:solidFill>
                  <a:srgbClr val="0B1F3A"/>
                </a:solidFill>
                <a:latin typeface="Calibri"/>
              </a:rPr>
              <a:t>softmax(x)_i  =  exp(x_i) / (exp(x_1) + Σ_{j≥2} exp(x_j))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Calibri"/>
              </a:rPr>
              <a:t>If x_1 ≫ x_j for j ≥ 2, then exp(x_1) dominates the denominator.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Softmax forces the model to allocate attention mass, even when nothing in the context deserves it.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That excess mass has to land somewhere.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In a causal LM, initial tokens are visible to every subsequent position; they are the natural dumping ground.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Evicting them removes a huge chunk of the softmax denominator → the attention distribution warps → PPL explodes.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Is it the tokens, or is it the position?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Hypothesis A: the first tokens are semantically special.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Hypothesis B: the first positions are structurally special.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Test: replace the first four tokens with newline characters and re-run.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324612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1828800"/>
              </a:tblGrid>
              <a:tr h="457200"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Cache configuration (Llama-2-13B, PG19)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PPL ↓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45720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0 + 1024  (window attention, no sinks)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5158.07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4 + 1020  (StreamingLLM, real sinks)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5.40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45720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4×"\n" + 1020  (linebreak sinks)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5.60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1371600" y="5257800"/>
            <a:ext cx="8229600" cy="1005840"/>
          </a:xfrm>
          <a:prstGeom prst="rect">
            <a:avLst/>
          </a:prstGeom>
          <a:solidFill>
            <a:srgbClr val="F4F6F8"/>
          </a:solidFill>
          <a:ln w="9525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5349240"/>
            <a:ext cx="80467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1">
                <a:solidFill>
                  <a:srgbClr val="27AE60"/>
                </a:solidFill>
                <a:latin typeface="Calibri"/>
              </a:rPr>
              <a:t>Verdict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5760720"/>
            <a:ext cx="804672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The first four positions do the work, not their content. Table 1, p. 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F3A"/>
          </a:solidFill>
          <a:ln w="9525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The mechanism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749039"/>
            <a:ext cx="5486400" cy="45720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Sinks + Rolling KV cache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The KV cache: 4 sink tokens + rolling window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22960" y="1920240"/>
            <a:ext cx="640080" cy="822960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6400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6" name="Rectangle 5"/>
          <p:cNvSpPr/>
          <p:nvPr/>
        </p:nvSpPr>
        <p:spPr>
          <a:xfrm>
            <a:off x="1508760" y="1920240"/>
            <a:ext cx="640080" cy="822960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2148840"/>
            <a:ext cx="6400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0" y="1920240"/>
            <a:ext cx="640080" cy="822960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0" y="2148840"/>
            <a:ext cx="6400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920240"/>
            <a:ext cx="640080" cy="822960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2148840"/>
            <a:ext cx="6400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834640"/>
            <a:ext cx="228600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1">
                <a:solidFill>
                  <a:srgbClr val="E67E22"/>
                </a:solidFill>
                <a:latin typeface="Calibri"/>
              </a:rPr>
              <a:t>SINKS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057400"/>
            <a:ext cx="5486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3200" b="1">
                <a:solidFill>
                  <a:srgbClr val="666666"/>
                </a:solidFill>
                <a:latin typeface="Calibri"/>
              </a:rPr>
              <a:t>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834640"/>
            <a:ext cx="91440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(evicted)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1920240"/>
            <a:ext cx="640080" cy="822960"/>
          </a:xfrm>
          <a:prstGeom prst="rect">
            <a:avLst/>
          </a:prstGeom>
          <a:solidFill>
            <a:srgbClr val="2E86AB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2194560"/>
            <a:ext cx="6400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T-6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66360" y="1920240"/>
            <a:ext cx="640080" cy="822960"/>
          </a:xfrm>
          <a:prstGeom prst="rect">
            <a:avLst/>
          </a:prstGeom>
          <a:solidFill>
            <a:srgbClr val="2E86AB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66360" y="2194560"/>
            <a:ext cx="6400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T-5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1920240"/>
            <a:ext cx="640080" cy="822960"/>
          </a:xfrm>
          <a:prstGeom prst="rect">
            <a:avLst/>
          </a:prstGeom>
          <a:solidFill>
            <a:srgbClr val="2E86AB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2194560"/>
            <a:ext cx="6400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T-4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1920240"/>
            <a:ext cx="640080" cy="822960"/>
          </a:xfrm>
          <a:prstGeom prst="rect">
            <a:avLst/>
          </a:prstGeom>
          <a:solidFill>
            <a:srgbClr val="2E86AB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2194560"/>
            <a:ext cx="6400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T-3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1920240"/>
            <a:ext cx="640080" cy="822960"/>
          </a:xfrm>
          <a:prstGeom prst="rect">
            <a:avLst/>
          </a:prstGeom>
          <a:solidFill>
            <a:srgbClr val="2E86AB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0" y="2194560"/>
            <a:ext cx="6400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T-2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09560" y="1920240"/>
            <a:ext cx="640080" cy="822960"/>
          </a:xfrm>
          <a:prstGeom prst="rect">
            <a:avLst/>
          </a:prstGeom>
          <a:solidFill>
            <a:srgbClr val="2E86AB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2194560"/>
            <a:ext cx="6400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T-1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95360" y="1920240"/>
            <a:ext cx="640080" cy="822960"/>
          </a:xfrm>
          <a:prstGeom prst="rect">
            <a:avLst/>
          </a:prstGeom>
          <a:solidFill>
            <a:srgbClr val="2E86AB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0" y="2194560"/>
            <a:ext cx="6400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2834640"/>
            <a:ext cx="548640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1">
                <a:solidFill>
                  <a:srgbClr val="2E86AB"/>
                </a:solidFill>
                <a:latin typeface="Calibri"/>
              </a:rPr>
              <a:t>ROLLING WINDOW (last L tokens)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52044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Keep the first S tokens (S = 4 works everywhere) as sinks.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Keep the last L tokens as the rolling window.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Everything in between is evicted.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Cache size = S + L; independent of stream length.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The trick: positions are indexed inside the cache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Naive attempt: use each token’s position in the original text.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That does not work: the sinks and the rolling window are far apart in the text but adjacent in the cache.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StreamingLLM re-indexes position IDs inside the cache.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Compatible with RoPE and ALiBi, the two dominant positional encodings in 2024.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297680"/>
            <a:ext cx="10972800" cy="2011680"/>
          </a:xfrm>
          <a:prstGeom prst="rect">
            <a:avLst/>
          </a:prstGeom>
          <a:solidFill>
            <a:srgbClr val="F4F6F8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4389120"/>
            <a:ext cx="107899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Concrete example (paper §3.2, p. 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800600"/>
            <a:ext cx="10789920" cy="1417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Cache contains tokens whose original positions are [0, 1, 2, 3, 6, 7, 8].
The model is asked to predict position 9.
It receives cache-local positions [0, 1, 2, 3, 4, 5, 6, 7], not [0, 1, 2, 3, 6, 7, 8, 9].
RoPE keys are cached pre-rotation, then rotated at decode using the cache-local index.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Refinement: pre-train with a dedicated sink token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If we can control pre-training, we can train the model to concentrate its excess attention on one specific token.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Prepend a single learnable placeholder to every pre-training sample. Call it the sink token.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One sink token now suffices at inference, instead of the four accidental ones.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3977639"/>
          <a:ext cx="94183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463040"/>
                <a:gridCol w="1463040"/>
                <a:gridCol w="1463040"/>
                <a:gridCol w="1463040"/>
              </a:tblGrid>
              <a:tr h="365760"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Cache config (160M model, PG19)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0+1024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1+1023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2+1022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4+1020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Vanilla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27.87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18.49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18.05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18.05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Zero Sink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29214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19.90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18.27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18.01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Learnable Sink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1235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18.01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18.01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18.02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5623560"/>
            <a:ext cx="1005840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Table 3, p. 6.  "Zero Sink" = SoftMax-off-by-One (Miller, 2023).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F3A"/>
          </a:solidFill>
          <a:ln w="9525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749039"/>
            <a:ext cx="5486400" cy="45720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Perplexity · Throughput · Streaming QA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Result 1: perplexity stays flat past 4 million tokens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Concatenated PG19 test set (100 long books).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Cache = 2048 for Llama-2 · 1024 for MPT, Falcon, Pythia.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Perplexity stable up to 4M+ tokens across every family (Llama-2-{7,13,70}B · MPT-{7,30}B · Falcon-{7,40}B · Pythia-{2.8,6.9,12}B).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Matches the sliding-window-with-recomputation baseline; beats dense (OOMs past training window) and window attention (PPL explodes).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480560"/>
            <a:ext cx="10972800" cy="1737360"/>
          </a:xfrm>
          <a:prstGeom prst="rect">
            <a:avLst/>
          </a:prstGeom>
          <a:solidFill>
            <a:srgbClr val="F4F6F8"/>
          </a:solidFill>
          <a:ln w="9525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4572000"/>
            <a:ext cx="107899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1">
                <a:solidFill>
                  <a:srgbClr val="27AE60"/>
                </a:solidFill>
                <a:latin typeface="Calibri"/>
              </a:rPr>
              <a:t>The single strongest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983480"/>
            <a:ext cx="10789920" cy="1143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Llama-2-13B, PG19, 65K tokens (Table 1, p. 5):
  Window attention        →  PPL 5158.07
  StreamingLLM (4+1020)   →  PPL 5.40
  Linebreak sinks         →  PPL 5.60  (sinks are positional!)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Result 2: up to 22.2× faster than window-with-recomputation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Single NVIDIA A6000 · Hugging Face Transformers · batch 1.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The sliding-window-with-recomputation baseline is quadratic; StreamingLLM is linear.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3291840"/>
          <a:ext cx="8778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108960"/>
                <a:gridCol w="2377440"/>
                <a:gridCol w="1463040"/>
              </a:tblGrid>
              <a:tr h="384048"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Cache size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Sliding+Recompute (ms)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StreamingLLM (ms)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Speed-up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2355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22.2×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512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860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11.5×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6.0×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2048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169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3.3×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4096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2.1×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371600" y="5806440"/>
            <a:ext cx="100584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Llama-2-13B, per-token decode latency; Fig. 10, p. 9. Memory footprint essentially unchanged.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Result 3: streaming QA is now actually usable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Setup: concatenate all ARC-{Easy,Challenge} questions and feed them as one long stream. Score exact-match on each answer.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468880" y="2331720"/>
          <a:ext cx="80467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463040"/>
                <a:gridCol w="2011680"/>
              </a:tblGrid>
              <a:tr h="292608"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 / policy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ARC-Easy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ARC-Challenge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Llama-2-7B-Chat  one-shot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71.25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53.16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Llama-2-7B-Chat  window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3.58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1.39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Llama-2-7B-Chat  StreamingLLM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71.34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55.03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Llama-2-13B-Chat one-shot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78.16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63.31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Llama-2-13B-Chat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Llama-2-13B-Chat StreamingLLM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80.89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65.61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Llama-2-70B-Chat one-shot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91.29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78.50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Llama-2-70B-Chat window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0.12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Llama-2-70B-Chat StreamingLLM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91.37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80.20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468880" y="5349240"/>
            <a:ext cx="914400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Cache 1024.  Dense OOMs.  Table 5, p. 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What StreamingLLM does not do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Calibri"/>
              </a:rPr>
              <a:t>• It does not extend the context window. If the answer is older than the rolling window, it is gone.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On LongBench, StreamingLLM 4+3496 underperforms the default truncation baseline on all six tasks, because it loses the initial prompt. Table 8, p. 17.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Bigger cache does not always mean lower perplexity. For Llama-2-7B, 4+2044 gives 9.08 PPL but 4+4092 gives 9.59. Table 6, p. 9.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No comparison with attention-score-based eviction (H2O, SnapKV, FastGen, Keyformer). Positional only.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Learnable-sink pre-training was validated at 160 M parameters, not at 7 B, 13 B, or 70 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What I would change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Layer-specific sink budgets. The first two layers barely need sinks; deeper layers need more.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Attention-score-based eviction inside the rolling window: combine StreamingLLM’s positional sinks with H2O-style content-aware eviction.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Test on real streaming traffic (LMSYS-Chat, ShareGPT). The paper only tests on PG19 books.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Sink-token pre-training at 7B+. The strongest §3.3 claim still awaits validation at scale.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754880"/>
            <a:ext cx="10972800" cy="1554480"/>
          </a:xfrm>
          <a:prstGeom prst="rect">
            <a:avLst/>
          </a:prstGeom>
          <a:solidFill>
            <a:srgbClr val="F4F6F8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4846320"/>
            <a:ext cx="107899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Same idea, one level up the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5257800"/>
            <a:ext cx="10789920" cy="96011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StreamingLLM chooses positional KV-cache eviction. My final project (Task 2) chooses cost-aware response-cache eviction (GDSF on GPTCache). Both attack the same underlying problem, dumb eviction wastes capacity, at different layers.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Conclusion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Attention sinks are real, universal, and structural, not semantic.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Keeping 4 initial tokens + a rolling window is enough to make LLMs stream stably to 4M+ tokens.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22.2× faster than the only sane baseline, with the same memory.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Adopted upstream: NVIDIA TensorRT-LLM, HF Transformers, Intel Extension for Transformers, MLC LLM.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But: it does not extend context, and it does not compete with attention-score-based eviction. Those are the frontiers.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029200"/>
            <a:ext cx="10972800" cy="1234440"/>
          </a:xfrm>
          <a:prstGeom prst="rect">
            <a:avLst/>
          </a:prstGeom>
          <a:solidFill>
            <a:srgbClr val="F4F6F8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5120640"/>
            <a:ext cx="107899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600" b="1">
                <a:solidFill>
                  <a:srgbClr val="E67E22"/>
                </a:solidFill>
                <a:latin typeface="Calibri"/>
              </a:rPr>
              <a:t>One-line 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5532120"/>
            <a:ext cx="1078992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A robust empirical fix for a softmax quirk: small, easy to implement, and honest about its own ceiling.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F3A"/>
          </a:solidFill>
          <a:ln w="9525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4023360"/>
            <a:ext cx="3566160" cy="45720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Questions welcome.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Nissim Brami  ·  nissimbrami@post.bgu.ac.il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Caching in LLMs  ·  Ben-Gurion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